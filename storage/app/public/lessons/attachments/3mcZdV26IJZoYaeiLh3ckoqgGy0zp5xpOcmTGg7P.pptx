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8" r:id="rId2"/>
    <p:sldId id="256" r:id="rId3"/>
    <p:sldId id="257" r:id="rId4"/>
    <p:sldId id="260" r:id="rId5"/>
    <p:sldId id="261" r:id="rId6"/>
    <p:sldId id="267" r:id="rId7"/>
    <p:sldId id="262" r:id="rId8"/>
    <p:sldId id="263" r:id="rId9"/>
    <p:sldId id="272" r:id="rId10"/>
    <p:sldId id="264" r:id="rId11"/>
    <p:sldId id="270" r:id="rId12"/>
    <p:sldId id="269" r:id="rId13"/>
    <p:sldId id="265" r:id="rId14"/>
    <p:sldId id="266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79" autoAdjust="0"/>
  </p:normalViewPr>
  <p:slideViewPr>
    <p:cSldViewPr snapToGrid="0">
      <p:cViewPr>
        <p:scale>
          <a:sx n="60" d="100"/>
          <a:sy n="60" d="100"/>
        </p:scale>
        <p:origin x="884" y="240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727E4-4995-49BC-A63F-AC75DBE2A596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2A15-AFEB-46FF-88A4-4F086E0FA4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01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406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79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15702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5170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6880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290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632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767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411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87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723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291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693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855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118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832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663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93D51-1F06-4472-B93F-6F818230CAE7}" type="datetimeFigureOut">
              <a:rPr lang="vi-VN" smtClean="0"/>
              <a:t>29/08/2021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13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0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14"/>
            <a:ext cx="12180824" cy="6851714"/>
          </a:xfrm>
        </p:spPr>
      </p:pic>
      <p:sp>
        <p:nvSpPr>
          <p:cNvPr id="6" name="TextBox 5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3828" y="3074014"/>
            <a:ext cx="8613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2: TẬP HỢP SỐ TỰ NHIÊN</a:t>
            </a:r>
          </a:p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 GHI SỐ TỰ NHIÊN.</a:t>
            </a:r>
            <a:endParaRPr lang="vi-VN" sz="3600" b="1" dirty="0">
              <a:ln w="22225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219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3" y="212876"/>
            <a:ext cx="8696858" cy="472499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262" y="4896105"/>
            <a:ext cx="5257800" cy="67627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327" y="5702124"/>
            <a:ext cx="6296025" cy="495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217233" y="5092864"/>
                <a:ext cx="5029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Tập hợp </a:t>
                </a:r>
                <a14:m>
                  <m:oMath xmlns:m="http://schemas.openxmlformats.org/officeDocument/2006/math">
                    <m:r>
                      <a:rPr lang="vi-VN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chứa phần tử {0} </a:t>
                </a:r>
              </a:p>
              <a:p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</a:t>
                </a:r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ập hợp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p>
                        <m:r>
                          <a:rPr lang="vi-VN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 </m:t>
                        </m:r>
                      </m:sup>
                    </m:sSup>
                    <m:r>
                      <a:rPr lang="vi-VN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không chứa phần tử </a:t>
                </a:r>
                <a:r>
                  <a:rPr lang="vi-VN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{0}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233" y="5092864"/>
                <a:ext cx="5029200" cy="646331"/>
              </a:xfrm>
              <a:prstGeom prst="rect">
                <a:avLst/>
              </a:prstGeom>
              <a:blipFill>
                <a:blip r:embed="rId7"/>
                <a:stretch>
                  <a:fillRect l="-1091" t="-4717" b="-1415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217233" y="6163523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 = { 1; 2; 3; 4; 5 }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62181" y="3763927"/>
            <a:ext cx="255178" cy="34665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17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87" y="514642"/>
            <a:ext cx="9248775" cy="1390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676" y="2077608"/>
            <a:ext cx="9210675" cy="676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676" y="2724149"/>
            <a:ext cx="9115425" cy="6286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2073" y="3407078"/>
            <a:ext cx="9086850" cy="5905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052" y="4079727"/>
            <a:ext cx="6543675" cy="7524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8626" y="4914301"/>
            <a:ext cx="9134475" cy="62865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2211862" y="1553605"/>
            <a:ext cx="86498" cy="819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247" y="6223683"/>
            <a:ext cx="695325" cy="60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216880" y="1561069"/>
            <a:ext cx="86498" cy="8190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296523" y="2684531"/>
            <a:ext cx="820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3 &gt; 2</a:t>
            </a:r>
          </a:p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5 &gt; 4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78923" y="2684531"/>
            <a:ext cx="820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2</a:t>
            </a:r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&lt;</a:t>
            </a:r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3</a:t>
            </a:r>
            <a:endParaRPr lang="vi-VN" sz="2000" b="1" dirty="0" smtClean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4 &lt; 5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383674" y="3898638"/>
                <a:ext cx="8204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3</a:t>
                </a:r>
                <a:endParaRPr lang="vi-VN" sz="20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3</a:t>
                </a:r>
              </a:p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 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2</a:t>
                </a:r>
                <a:endParaRPr lang="vi-VN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674" y="3898638"/>
                <a:ext cx="820436" cy="1015663"/>
              </a:xfrm>
              <a:prstGeom prst="rect">
                <a:avLst/>
              </a:prstGeom>
              <a:blipFill>
                <a:blip r:embed="rId11"/>
                <a:stretch>
                  <a:fillRect l="-7407" t="-3614" b="-10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 flipV="1">
            <a:off x="3969249" y="3052119"/>
            <a:ext cx="4075000" cy="220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9076708" y="3799657"/>
            <a:ext cx="1356393" cy="4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533665" y="4079727"/>
            <a:ext cx="2629289" cy="37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468649" y="4454102"/>
            <a:ext cx="2836525" cy="3726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21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2" grpId="0"/>
      <p:bldP spid="14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06" y="2005576"/>
            <a:ext cx="5895975" cy="866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170" y="2779664"/>
            <a:ext cx="5286375" cy="781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06" y="4407290"/>
            <a:ext cx="8439150" cy="828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1719" y="344869"/>
            <a:ext cx="8607254" cy="14221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11283" y="1025736"/>
            <a:ext cx="1676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a) 17; 19; 21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27755" y="1338777"/>
            <a:ext cx="2685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b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) 102; 101; 100; 99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01970" y="2142562"/>
            <a:ext cx="237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Ta có     a &gt;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9558" y="3388475"/>
            <a:ext cx="2376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b)  Ta có     a &lt; 2000</a:t>
            </a:r>
          </a:p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Mà   2000 &lt; 2020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Nên        a &lt; 2020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62142" y="3005479"/>
            <a:ext cx="238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Hay 2020 &lt; a &lt; 2021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9122017" y="3346057"/>
            <a:ext cx="15586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76370" y="4194292"/>
            <a:ext cx="2548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Hay a &lt; 2000 &lt; 2020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9098145" y="4534870"/>
            <a:ext cx="15586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26673" y="5278051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 = { 35 ; 30 ; 25 ; 20 ; 15 ; 10 ; 5 ; 0 }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2142" y="2431569"/>
            <a:ext cx="237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Mà   2021 &gt; 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1656" y="2734959"/>
            <a:ext cx="237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Nên       a &gt; 2020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55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8" grpId="0"/>
      <p:bldP spid="20" grpId="0"/>
      <p:bldP spid="17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530" y="345989"/>
            <a:ext cx="9220200" cy="1847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721" y="2182018"/>
            <a:ext cx="4124325" cy="266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2662" y="4950247"/>
            <a:ext cx="9086850" cy="638175"/>
          </a:xfrm>
          <a:prstGeom prst="rect">
            <a:avLst/>
          </a:prstGeom>
        </p:spPr>
      </p:pic>
      <p:cxnSp>
        <p:nvCxnSpPr>
          <p:cNvPr id="70" name="Straight Arrow Connector 69"/>
          <p:cNvCxnSpPr>
            <a:endCxn id="99" idx="3"/>
          </p:cNvCxnSpPr>
          <p:nvPr/>
        </p:nvCxnSpPr>
        <p:spPr>
          <a:xfrm flipH="1" flipV="1">
            <a:off x="4102047" y="3755525"/>
            <a:ext cx="448582" cy="597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5966510" y="3395811"/>
            <a:ext cx="20849" cy="34999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6194855" y="3408167"/>
            <a:ext cx="460290" cy="29195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454" y="3553382"/>
            <a:ext cx="257175" cy="409575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325" y="3553382"/>
            <a:ext cx="238125" cy="409575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7867" y="3584789"/>
            <a:ext cx="228600" cy="371475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2646" y="3569601"/>
            <a:ext cx="228600" cy="352425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7232" y="3538193"/>
            <a:ext cx="266700" cy="390525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2893" y="3586718"/>
            <a:ext cx="219075" cy="342900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5531" y="3581954"/>
            <a:ext cx="209550" cy="352425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6545" y="3608605"/>
            <a:ext cx="228600" cy="323850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6087" y="3572431"/>
            <a:ext cx="219075" cy="371475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0915" y="3581957"/>
            <a:ext cx="209550" cy="352425"/>
          </a:xfrm>
          <a:prstGeom prst="rect">
            <a:avLst/>
          </a:prstGeom>
        </p:spPr>
      </p:pic>
      <p:cxnSp>
        <p:nvCxnSpPr>
          <p:cNvPr id="83" name="Straight Arrow Connector 82"/>
          <p:cNvCxnSpPr>
            <a:stCxn id="82" idx="2"/>
          </p:cNvCxnSpPr>
          <p:nvPr/>
        </p:nvCxnSpPr>
        <p:spPr>
          <a:xfrm>
            <a:off x="6985690" y="3934382"/>
            <a:ext cx="281246" cy="21920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969203" y="4153583"/>
            <a:ext cx="99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Đơn vị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470944" y="4143915"/>
            <a:ext cx="99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Chục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50285" y="4141377"/>
            <a:ext cx="99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Trăm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87" name="Straight Arrow Connector 86"/>
          <p:cNvCxnSpPr>
            <a:stCxn id="81" idx="2"/>
          </p:cNvCxnSpPr>
          <p:nvPr/>
        </p:nvCxnSpPr>
        <p:spPr>
          <a:xfrm>
            <a:off x="6775625" y="3943906"/>
            <a:ext cx="10941" cy="2022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80" idx="2"/>
            <a:endCxn id="86" idx="0"/>
          </p:cNvCxnSpPr>
          <p:nvPr/>
        </p:nvCxnSpPr>
        <p:spPr>
          <a:xfrm flipH="1">
            <a:off x="6449454" y="3932455"/>
            <a:ext cx="91391" cy="20892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355482" y="3020873"/>
            <a:ext cx="99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Nghìn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729401" y="2876706"/>
            <a:ext cx="998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Chục Nghìn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115676" y="2868465"/>
            <a:ext cx="998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Trăm Nghìn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92" name="Straight Arrow Connector 91"/>
          <p:cNvCxnSpPr/>
          <p:nvPr/>
        </p:nvCxnSpPr>
        <p:spPr>
          <a:xfrm flipH="1" flipV="1">
            <a:off x="5436397" y="3362073"/>
            <a:ext cx="278523" cy="28086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299496" y="4170209"/>
            <a:ext cx="99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Triệu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811017" y="4094349"/>
            <a:ext cx="662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Chục Triệu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320863" y="4073752"/>
            <a:ext cx="662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Trăm Triệu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5321645" y="3938500"/>
            <a:ext cx="281246" cy="21920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5111580" y="3948024"/>
            <a:ext cx="10941" cy="20223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flipH="1">
            <a:off x="4785409" y="3936573"/>
            <a:ext cx="91391" cy="20892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661695" y="3601636"/>
            <a:ext cx="440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Tỷ</a:t>
            </a:r>
            <a:endParaRPr lang="vi-VN" sz="1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6696014" y="3932597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6907554" y="3930323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470332" y="3922026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124342" y="3943906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895997" y="3944594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658888" y="3946572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295371" y="3956264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050205" y="3944594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4842289" y="3943906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461312" y="3962791"/>
            <a:ext cx="1410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62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/>
      <p:bldP spid="89" grpId="0"/>
      <p:bldP spid="90" grpId="0"/>
      <p:bldP spid="91" grpId="0"/>
      <p:bldP spid="93" grpId="0"/>
      <p:bldP spid="94" grpId="0"/>
      <p:bldP spid="95" grpId="0"/>
      <p:bldP spid="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07" y="545329"/>
            <a:ext cx="8572500" cy="11715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072427" y="1716904"/>
            <a:ext cx="296793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.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Số </a:t>
            </a:r>
            <a:r>
              <a:rPr lang="vi-VN" b="1" dirty="0" smtClean="0">
                <a:solidFill>
                  <a:srgbClr val="FF0000"/>
                </a:solidFill>
                <a:latin typeface="+mj-lt"/>
              </a:rPr>
              <a:t>2023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có 4 chữ số</a:t>
            </a:r>
          </a:p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Chữ số hàng đơn vị  : 3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hàng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chục     : 2</a:t>
            </a:r>
          </a:p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hàng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trăm     : 0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hàng nghìn    : 2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45821" y="1716904"/>
            <a:ext cx="4286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.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Số </a:t>
            </a:r>
            <a:r>
              <a:rPr lang="vi-VN" b="1" dirty="0" smtClean="0">
                <a:solidFill>
                  <a:srgbClr val="FF0000"/>
                </a:solidFill>
                <a:latin typeface="+mj-lt"/>
              </a:rPr>
              <a:t>5 427 198 653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có 10 chữ số</a:t>
            </a:r>
          </a:p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Chữ số hàng đơn vị           : 3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hàng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chục              : 5</a:t>
            </a:r>
          </a:p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hàng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trăm              : 6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hàng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nghìn             : 8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số hàng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chục nghìn    : 9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số hàng trăm nghìn</a:t>
            </a:r>
            <a:r>
              <a:rPr lang="vi-VN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: 1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số hàng triệu               : 7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số hàng chục triệu      : 2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số hàng trăm triệu      : 4</a:t>
            </a:r>
          </a:p>
          <a:p>
            <a:r>
              <a:rPr lang="vi-VN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Chữ số hàng tỷ                     : 5</a:t>
            </a:r>
          </a:p>
        </p:txBody>
      </p:sp>
    </p:spTree>
    <p:extLst>
      <p:ext uri="{BB962C8B-B14F-4D97-AF65-F5344CB8AC3E}">
        <p14:creationId xmlns:p14="http://schemas.microsoft.com/office/powerpoint/2010/main" val="408292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85" y="860750"/>
            <a:ext cx="9134475" cy="1171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85" y="1982896"/>
            <a:ext cx="9086850" cy="11144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3405" y="2800760"/>
            <a:ext cx="1657350" cy="504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135" y="3317939"/>
            <a:ext cx="9115425" cy="11620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210" y="4677933"/>
            <a:ext cx="8610600" cy="11049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183846" y="1674164"/>
            <a:ext cx="3006909" cy="2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85780" y="2845739"/>
            <a:ext cx="1833952" cy="44952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38110" y="1715248"/>
            <a:ext cx="1152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01 =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0168082" y="2536630"/>
                <a:ext cx="29981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12 = 1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+ 2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082" y="2536630"/>
                <a:ext cx="2998187" cy="400110"/>
              </a:xfrm>
              <a:prstGeom prst="rect">
                <a:avLst/>
              </a:prstGeom>
              <a:blipFill>
                <a:blip r:embed="rId9"/>
                <a:stretch>
                  <a:fillRect l="-2236" t="-7576" b="-257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0172199" y="2886742"/>
                <a:ext cx="29981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23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= 2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+ 3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199" y="2886742"/>
                <a:ext cx="2998187" cy="400110"/>
              </a:xfrm>
              <a:prstGeom prst="rect">
                <a:avLst/>
              </a:prstGeom>
              <a:blipFill>
                <a:blip r:embed="rId10"/>
                <a:stretch>
                  <a:fillRect l="-2240" t="-9231" b="-2769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336847" y="4127523"/>
                <a:ext cx="32508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345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= 3 </a:t>
                </a:r>
                <a14:m>
                  <m:oMath xmlns:m="http://schemas.openxmlformats.org/officeDocument/2006/math"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+ 4 </a:t>
                </a:r>
                <a14:m>
                  <m:oMath xmlns:m="http://schemas.openxmlformats.org/officeDocument/2006/math"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10 +5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6847" y="4127523"/>
                <a:ext cx="3250866" cy="400110"/>
              </a:xfrm>
              <a:prstGeom prst="rect">
                <a:avLst/>
              </a:prstGeom>
              <a:blipFill>
                <a:blip r:embed="rId11"/>
                <a:stretch>
                  <a:fillRect l="-1873" t="-7576" b="-257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238111" y="1283448"/>
            <a:ext cx="820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a.b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7333883" y="1683558"/>
            <a:ext cx="7537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24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4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29" y="382828"/>
            <a:ext cx="9210675" cy="1085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91" y="1472922"/>
            <a:ext cx="8410575" cy="1152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354" y="2526719"/>
            <a:ext cx="9163050" cy="2133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452" y="4450230"/>
            <a:ext cx="9115425" cy="1714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67418" y="3027532"/>
            <a:ext cx="185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VI = 5+1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704" y="3486881"/>
            <a:ext cx="185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VII = 5+2 =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5175" y="2610457"/>
            <a:ext cx="185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IV = 5-1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8908" y="3940393"/>
            <a:ext cx="185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VIII = 5+3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9251" y="4441421"/>
            <a:ext cx="185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VIIII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3393" y="4880987"/>
            <a:ext cx="185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IX = 10-1 = 9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0042704" y="4340503"/>
            <a:ext cx="728660" cy="5404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0103393" y="4340503"/>
            <a:ext cx="643258" cy="5010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91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1026" name="Picture 2" descr="Cách Đọc Và Viết Số La Mã - trithucchoban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19" y="890716"/>
            <a:ext cx="523875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ách bạn 2 bước đơn giản viết số La Mã trong Wor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969" y="1000897"/>
            <a:ext cx="5258399" cy="428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23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428" y="-23099"/>
            <a:ext cx="12535786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71" y="1791730"/>
            <a:ext cx="11742635" cy="24400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30802" y="2695829"/>
            <a:ext cx="615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XX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21664" y="3367557"/>
            <a:ext cx="615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6029" y="3404628"/>
            <a:ext cx="615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2770" y="2709215"/>
            <a:ext cx="77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XVII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20468" y="2684501"/>
            <a:ext cx="805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0703" y="2684845"/>
            <a:ext cx="1389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XXVI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12086" y="2709901"/>
            <a:ext cx="1389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XXVIII</a:t>
            </a:r>
            <a:endParaRPr lang="vi-VN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10926" y="3391928"/>
            <a:ext cx="615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24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85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98" y="1099752"/>
            <a:ext cx="11051799" cy="440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7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14"/>
            <a:ext cx="12180824" cy="6851714"/>
          </a:xfrm>
        </p:spPr>
      </p:pic>
      <p:sp>
        <p:nvSpPr>
          <p:cNvPr id="6" name="TextBox 5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6715" y="3108338"/>
            <a:ext cx="8613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8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GIẢI BÀI TẬP</a:t>
            </a:r>
          </a:p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2: TẬP HỢP SỐ TỰ NHIÊN</a:t>
            </a:r>
          </a:p>
          <a:p>
            <a:pPr algn="ctr"/>
            <a:r>
              <a:rPr lang="vi-VN" sz="36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 GHI SỐ TỰ NHIÊN.</a:t>
            </a:r>
            <a:endParaRPr lang="vi-VN" sz="3600" b="1" dirty="0">
              <a:ln w="22225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738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43" y="2584227"/>
            <a:ext cx="8919260" cy="7588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7" y="293354"/>
            <a:ext cx="1190625" cy="476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513" y="3704054"/>
            <a:ext cx="8527886" cy="1213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8075" y="5954809"/>
            <a:ext cx="923925" cy="790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3262" y="2720032"/>
            <a:ext cx="404741" cy="377759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8276" y="2720033"/>
            <a:ext cx="390053" cy="44206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7399" y="2712702"/>
            <a:ext cx="468251" cy="437034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8083" y="2707674"/>
            <a:ext cx="371388" cy="420906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9513" y="1094311"/>
            <a:ext cx="9316190" cy="13010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16443" y="5047835"/>
            <a:ext cx="132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a) Sai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2602" y="5071987"/>
            <a:ext cx="132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b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) Sai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16443" y="5627656"/>
            <a:ext cx="132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c) Đúng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32602" y="5638532"/>
            <a:ext cx="132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) Sai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486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099"/>
            <a:ext cx="12306301" cy="6881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90" y="2982952"/>
            <a:ext cx="11166931" cy="17401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1096" y="6061128"/>
            <a:ext cx="923925" cy="790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96" y="1225400"/>
            <a:ext cx="11071525" cy="565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32293" y="4167123"/>
            <a:ext cx="917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XIX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58786" y="4167123"/>
            <a:ext cx="77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XVI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8155" y="3652972"/>
            <a:ext cx="615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</a:t>
            </a:r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4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40937" y="3650254"/>
            <a:ext cx="471847" cy="402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29</a:t>
            </a:r>
            <a:endParaRPr lang="vi-VN" sz="2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982167" y="1840173"/>
                <a:ext cx="79427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2756 = 2</a:t>
                </a:r>
                <a14:m>
                  <m:oMath xmlns:m="http://schemas.openxmlformats.org/officeDocument/2006/math">
                    <m:r>
                      <a:rPr lang="vi-VN" sz="24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1000 + 7</a:t>
                </a:r>
                <a14:m>
                  <m:oMath xmlns:m="http://schemas.openxmlformats.org/officeDocument/2006/math">
                    <m:r>
                      <a:rPr lang="vi-VN" sz="2400" b="1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100 + 5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 + 6  </a:t>
                </a:r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167" y="1840173"/>
                <a:ext cx="7942711" cy="461665"/>
              </a:xfrm>
              <a:prstGeom prst="rect">
                <a:avLst/>
              </a:prstGeom>
              <a:blipFill>
                <a:blip r:embed="rId6"/>
                <a:stretch>
                  <a:fillRect l="-1151" t="-10526" b="-28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998640" y="2227355"/>
                <a:ext cx="79427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2023 = 2</a:t>
                </a:r>
                <a14:m>
                  <m:oMath xmlns:m="http://schemas.openxmlformats.org/officeDocument/2006/math">
                    <m:r>
                      <a:rPr lang="vi-VN" sz="2400" b="1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1000 + 0</a:t>
                </a:r>
                <a14:m>
                  <m:oMath xmlns:m="http://schemas.openxmlformats.org/officeDocument/2006/math">
                    <m:r>
                      <a:rPr lang="vi-VN" sz="2400" b="1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100 + 2</a:t>
                </a:r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10 + 3  </a:t>
                </a:r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640" y="2227355"/>
                <a:ext cx="7942711" cy="461665"/>
              </a:xfrm>
              <a:prstGeom prst="rect">
                <a:avLst/>
              </a:prstGeom>
              <a:blipFill>
                <a:blip r:embed="rId7"/>
                <a:stretch>
                  <a:fillRect l="-1228" t="-10526" b="-2894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18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423</Words>
  <Application>Microsoft Office PowerPoint</Application>
  <PresentationFormat>Widescreen</PresentationFormat>
  <Paragraphs>95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BEAN</dc:creator>
  <cp:lastModifiedBy>BEAN</cp:lastModifiedBy>
  <cp:revision>99</cp:revision>
  <dcterms:created xsi:type="dcterms:W3CDTF">2021-06-12T02:17:51Z</dcterms:created>
  <dcterms:modified xsi:type="dcterms:W3CDTF">2021-08-29T10:18:11Z</dcterms:modified>
</cp:coreProperties>
</file>