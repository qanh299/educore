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9" r:id="rId2"/>
    <p:sldId id="256" r:id="rId3"/>
    <p:sldId id="270" r:id="rId4"/>
    <p:sldId id="257" r:id="rId5"/>
    <p:sldId id="271" r:id="rId6"/>
    <p:sldId id="272" r:id="rId7"/>
    <p:sldId id="279" r:id="rId8"/>
    <p:sldId id="278" r:id="rId9"/>
    <p:sldId id="277" r:id="rId10"/>
    <p:sldId id="273" r:id="rId11"/>
    <p:sldId id="281" r:id="rId12"/>
    <p:sldId id="282" r:id="rId13"/>
    <p:sldId id="276" r:id="rId14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5524" autoAdjust="0"/>
  </p:normalViewPr>
  <p:slideViewPr>
    <p:cSldViewPr snapToGrid="0">
      <p:cViewPr varScale="1">
        <p:scale>
          <a:sx n="39" d="100"/>
          <a:sy n="39" d="100"/>
        </p:scale>
        <p:origin x="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D727E4-4995-49BC-A63F-AC75DBE2A596}" type="datetimeFigureOut">
              <a:rPr lang="vi-VN" smtClean="0"/>
              <a:t>29/06/2021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942A15-AFEB-46FF-88A4-4F086E0FA44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32019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942A15-AFEB-46FF-88A4-4F086E0FA44A}" type="slidenum">
              <a:rPr lang="vi-VN" smtClean="0"/>
              <a:t>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675187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942A15-AFEB-46FF-88A4-4F086E0FA44A}" type="slidenum">
              <a:rPr lang="vi-VN" smtClean="0"/>
              <a:t>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037046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942A15-AFEB-46FF-88A4-4F086E0FA44A}" type="slidenum">
              <a:rPr lang="vi-VN" smtClean="0"/>
              <a:t>6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414012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942A15-AFEB-46FF-88A4-4F086E0FA44A}" type="slidenum">
              <a:rPr lang="vi-VN" smtClean="0"/>
              <a:t>13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591177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93D51-1F06-4472-B93F-6F818230CAE7}" type="datetimeFigureOut">
              <a:rPr lang="vi-VN" smtClean="0"/>
              <a:t>29/06/2021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5A9E-70D6-4214-9F2E-04F49FBD965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06326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93D51-1F06-4472-B93F-6F818230CAE7}" type="datetimeFigureOut">
              <a:rPr lang="vi-VN" smtClean="0"/>
              <a:t>29/06/2021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5A9E-70D6-4214-9F2E-04F49FBD965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37675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93D51-1F06-4472-B93F-6F818230CAE7}" type="datetimeFigureOut">
              <a:rPr lang="vi-VN" smtClean="0"/>
              <a:t>29/06/2021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5A9E-70D6-4214-9F2E-04F49FBD965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84112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93D51-1F06-4472-B93F-6F818230CAE7}" type="datetimeFigureOut">
              <a:rPr lang="vi-VN" smtClean="0"/>
              <a:t>29/06/2021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5A9E-70D6-4214-9F2E-04F49FBD965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25878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93D51-1F06-4472-B93F-6F818230CAE7}" type="datetimeFigureOut">
              <a:rPr lang="vi-VN" smtClean="0"/>
              <a:t>29/06/2021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5A9E-70D6-4214-9F2E-04F49FBD965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77239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93D51-1F06-4472-B93F-6F818230CAE7}" type="datetimeFigureOut">
              <a:rPr lang="vi-VN" smtClean="0"/>
              <a:t>29/06/2021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5A9E-70D6-4214-9F2E-04F49FBD965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52917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93D51-1F06-4472-B93F-6F818230CAE7}" type="datetimeFigureOut">
              <a:rPr lang="vi-VN" smtClean="0"/>
              <a:t>29/06/2021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5A9E-70D6-4214-9F2E-04F49FBD965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56933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93D51-1F06-4472-B93F-6F818230CAE7}" type="datetimeFigureOut">
              <a:rPr lang="vi-VN" smtClean="0"/>
              <a:t>29/06/2021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5A9E-70D6-4214-9F2E-04F49FBD965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18556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93D51-1F06-4472-B93F-6F818230CAE7}" type="datetimeFigureOut">
              <a:rPr lang="vi-VN" smtClean="0"/>
              <a:t>29/06/2021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5A9E-70D6-4214-9F2E-04F49FBD965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71187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93D51-1F06-4472-B93F-6F818230CAE7}" type="datetimeFigureOut">
              <a:rPr lang="vi-VN" smtClean="0"/>
              <a:t>29/06/2021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5A9E-70D6-4214-9F2E-04F49FBD965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68328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93D51-1F06-4472-B93F-6F818230CAE7}" type="datetimeFigureOut">
              <a:rPr lang="vi-VN" smtClean="0"/>
              <a:t>29/06/2021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5A9E-70D6-4214-9F2E-04F49FBD965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3663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693D51-1F06-4472-B93F-6F818230CAE7}" type="datetimeFigureOut">
              <a:rPr lang="vi-VN" smtClean="0"/>
              <a:t>29/06/2021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295A9E-70D6-4214-9F2E-04F49FBD965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8130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11" Type="http://schemas.openxmlformats.org/officeDocument/2006/relationships/slide" Target="slide2.xml"/><Relationship Id="rId5" Type="http://schemas.openxmlformats.org/officeDocument/2006/relationships/image" Target="../media/image8.png"/><Relationship Id="rId10" Type="http://schemas.openxmlformats.org/officeDocument/2006/relationships/slide" Target="slide2.xml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4326" y="365125"/>
            <a:ext cx="10515600" cy="1325563"/>
          </a:xfrm>
        </p:spPr>
        <p:txBody>
          <a:bodyPr/>
          <a:lstStyle/>
          <a:p>
            <a:endParaRPr lang="vi-VN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86"/>
            <a:ext cx="12180824" cy="6851714"/>
          </a:xfrm>
        </p:spPr>
      </p:pic>
      <p:sp>
        <p:nvSpPr>
          <p:cNvPr id="7" name="TextBox 6"/>
          <p:cNvSpPr txBox="1"/>
          <p:nvPr/>
        </p:nvSpPr>
        <p:spPr>
          <a:xfrm>
            <a:off x="5300169" y="1535090"/>
            <a:ext cx="22365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TOÁN 6 </a:t>
            </a:r>
            <a:endParaRPr lang="vi-VN" sz="28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98696" y="1117453"/>
            <a:ext cx="45403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000" b="1" dirty="0" smtClean="0">
                <a:solidFill>
                  <a:srgbClr val="FF0000"/>
                </a:solidFill>
                <a:latin typeface="+mj-lt"/>
              </a:rPr>
              <a:t>CHÂN TRỜI SÁNG TẠO </a:t>
            </a:r>
            <a:endParaRPr lang="vi-VN" sz="3000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756809" y="1919796"/>
            <a:ext cx="51128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CHƯƠNG 1: SỐ TỰ NHIÊN </a:t>
            </a:r>
            <a:endParaRPr lang="vi-VN" sz="28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505132" y="3298015"/>
            <a:ext cx="96162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3600" b="1" dirty="0" smtClean="0">
                <a:ln w="22225">
                  <a:solidFill>
                    <a:schemeClr val="accent1">
                      <a:lumMod val="50000"/>
                    </a:schemeClr>
                  </a:solidFill>
                  <a:prstDash val="solid"/>
                </a:ln>
                <a:solidFill>
                  <a:schemeClr val="accent1">
                    <a:lumMod val="50000"/>
                  </a:schemeClr>
                </a:soli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</a:rPr>
              <a:t>BÀI 3: CÁC PHÉP TÍNH</a:t>
            </a:r>
          </a:p>
          <a:p>
            <a:pPr algn="ctr"/>
            <a:r>
              <a:rPr lang="vi-VN" sz="3600" b="1" dirty="0" smtClean="0">
                <a:ln w="22225">
                  <a:solidFill>
                    <a:schemeClr val="accent1">
                      <a:lumMod val="50000"/>
                    </a:schemeClr>
                  </a:solidFill>
                  <a:prstDash val="solid"/>
                </a:ln>
                <a:solidFill>
                  <a:schemeClr val="accent1">
                    <a:lumMod val="50000"/>
                  </a:schemeClr>
                </a:soli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</a:rPr>
              <a:t>TRONG TẬP HỢP SỐ TỰ NHIÊN</a:t>
            </a:r>
            <a:endParaRPr lang="vi-VN" sz="3600" b="1" dirty="0">
              <a:ln w="22225">
                <a:solidFill>
                  <a:schemeClr val="accent1">
                    <a:lumMod val="50000"/>
                  </a:schemeClr>
                </a:solidFill>
                <a:prstDash val="solid"/>
              </a:ln>
              <a:solidFill>
                <a:schemeClr val="accent1">
                  <a:lumMod val="50000"/>
                </a:schemeClr>
              </a:solidFill>
              <a:effectLst>
                <a:outerShdw blurRad="60007" dist="200025" dir="15000000" sy="30000" kx="-1800000" algn="bl" rotWithShape="0">
                  <a:prstClr val="black">
                    <a:alpha val="32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21039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273" y="123568"/>
            <a:ext cx="8429625" cy="1152525"/>
          </a:xfrm>
          <a:prstGeom prst="rect">
            <a:avLst/>
          </a:prstGeom>
        </p:spPr>
      </p:pic>
      <p:pic>
        <p:nvPicPr>
          <p:cNvPr id="32" name="Picture 31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908" y="1325520"/>
            <a:ext cx="8686800" cy="1495425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4077" y="2833302"/>
            <a:ext cx="8724900" cy="2076450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5931" y="4909752"/>
            <a:ext cx="9239250" cy="1371600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97035" y="5867400"/>
            <a:ext cx="733425" cy="99060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 flipV="1">
            <a:off x="6184170" y="5529648"/>
            <a:ext cx="574976" cy="411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10558977" y="5552303"/>
            <a:ext cx="574976" cy="411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1178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8463" y="225767"/>
            <a:ext cx="8686800" cy="149542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196" y="3243667"/>
            <a:ext cx="1011588" cy="1365567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9378" y="3992539"/>
            <a:ext cx="1087096" cy="1654596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978" y="3490065"/>
            <a:ext cx="1011588" cy="1365567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259" y="3749985"/>
            <a:ext cx="1011588" cy="1365567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2465" y="3992538"/>
            <a:ext cx="1011588" cy="1365567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8463" y="4302809"/>
            <a:ext cx="1011588" cy="1365567"/>
          </a:xfrm>
          <a:prstGeom prst="rect">
            <a:avLst/>
          </a:prstGeom>
        </p:spPr>
      </p:pic>
      <p:pic>
        <p:nvPicPr>
          <p:cNvPr id="7170" name="Picture 2" descr="Vỉ 2 cây bút chì đỏ đen STAEDTLER TRADITION 110 (HB, B, 2B, 3B, 4B, 5B, 6B)  | Shopee Việt Nam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0066" y="4410270"/>
            <a:ext cx="1440895" cy="1440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Rectangle 27"/>
          <p:cNvSpPr/>
          <p:nvPr/>
        </p:nvSpPr>
        <p:spPr>
          <a:xfrm>
            <a:off x="1878259" y="1956087"/>
            <a:ext cx="22012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28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100 000 đồng</a:t>
            </a:r>
            <a:endParaRPr lang="vi-VN" sz="28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27" name="Left Brace 26"/>
          <p:cNvSpPr/>
          <p:nvPr/>
        </p:nvSpPr>
        <p:spPr>
          <a:xfrm rot="16200000">
            <a:off x="1377451" y="4666046"/>
            <a:ext cx="281143" cy="2344061"/>
          </a:xfrm>
          <a:prstGeom prst="leftBrace">
            <a:avLst>
              <a:gd name="adj1" fmla="val 88736"/>
              <a:gd name="adj2" fmla="val 50000"/>
            </a:avLst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0" name="Left Brace 29"/>
          <p:cNvSpPr/>
          <p:nvPr/>
        </p:nvSpPr>
        <p:spPr>
          <a:xfrm rot="16200000">
            <a:off x="4072191" y="5284693"/>
            <a:ext cx="281143" cy="1106765"/>
          </a:xfrm>
          <a:prstGeom prst="leftBrace">
            <a:avLst>
              <a:gd name="adj1" fmla="val 88736"/>
              <a:gd name="adj2" fmla="val 50000"/>
            </a:avLst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1" name="Left Brace 30"/>
          <p:cNvSpPr/>
          <p:nvPr/>
        </p:nvSpPr>
        <p:spPr>
          <a:xfrm rot="16200000">
            <a:off x="6387979" y="5357011"/>
            <a:ext cx="310271" cy="906096"/>
          </a:xfrm>
          <a:prstGeom prst="leftBrace">
            <a:avLst>
              <a:gd name="adj1" fmla="val 88736"/>
              <a:gd name="adj2" fmla="val 50000"/>
            </a:avLst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accent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/>
              <p:cNvSpPr/>
              <p:nvPr/>
            </p:nvSpPr>
            <p:spPr>
              <a:xfrm>
                <a:off x="86496" y="6124876"/>
                <a:ext cx="265419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vi-VN" b="1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5 </a:t>
                </a:r>
                <a14:m>
                  <m:oMath xmlns:m="http://schemas.openxmlformats.org/officeDocument/2006/math">
                    <m:r>
                      <a:rPr lang="vi-VN" b="1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vi-VN" b="1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 3000 </a:t>
                </a:r>
                <a:r>
                  <a:rPr lang="vi-VN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= 15 000đồng</a:t>
                </a:r>
                <a:endParaRPr lang="vi-VN" b="1" dirty="0">
                  <a:solidFill>
                    <a:schemeClr val="accent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96" y="6124876"/>
                <a:ext cx="2654191" cy="369332"/>
              </a:xfrm>
              <a:prstGeom prst="rect">
                <a:avLst/>
              </a:prstGeom>
              <a:blipFill>
                <a:blip r:embed="rId7"/>
                <a:stretch>
                  <a:fillRect l="-1835" t="-10000" b="-2666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3053001" y="6086286"/>
                <a:ext cx="241123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vi-VN" b="1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6 </a:t>
                </a:r>
                <a14:m>
                  <m:oMath xmlns:m="http://schemas.openxmlformats.org/officeDocument/2006/math">
                    <m:r>
                      <a:rPr lang="vi-VN" b="1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vi-VN" b="1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vi-VN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5000 = </a:t>
                </a:r>
                <a:r>
                  <a:rPr lang="vi-VN" b="1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30</a:t>
                </a:r>
                <a:r>
                  <a:rPr lang="vi-VN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 000đồng</a:t>
                </a:r>
                <a:endParaRPr lang="vi-VN" b="1" dirty="0">
                  <a:solidFill>
                    <a:schemeClr val="accent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3001" y="6086286"/>
                <a:ext cx="2411238" cy="369332"/>
              </a:xfrm>
              <a:prstGeom prst="rect">
                <a:avLst/>
              </a:prstGeom>
              <a:blipFill>
                <a:blip r:embed="rId8"/>
                <a:stretch>
                  <a:fillRect l="-2278" t="-8197" r="-1266" b="-2459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/>
              <p:cNvSpPr/>
              <p:nvPr/>
            </p:nvSpPr>
            <p:spPr>
              <a:xfrm>
                <a:off x="5464239" y="6094567"/>
                <a:ext cx="237597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vi-VN" b="1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2</a:t>
                </a:r>
                <a14:m>
                  <m:oMath xmlns:m="http://schemas.openxmlformats.org/officeDocument/2006/math">
                    <m:r>
                      <a:rPr lang="vi-VN" b="1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vi-VN" b="1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5000 = </a:t>
                </a:r>
                <a:r>
                  <a:rPr lang="vi-VN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10 000đồng</a:t>
                </a:r>
                <a:endParaRPr lang="vi-VN" b="1" dirty="0">
                  <a:solidFill>
                    <a:schemeClr val="accent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4239" y="6094567"/>
                <a:ext cx="2375971" cy="369332"/>
              </a:xfrm>
              <a:prstGeom prst="rect">
                <a:avLst/>
              </a:prstGeom>
              <a:blipFill>
                <a:blip r:embed="rId9"/>
                <a:stretch>
                  <a:fillRect l="-2051" t="-10000" b="-2666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>
                <a:hlinkClick r:id="rId10" action="ppaction://hlinksldjump"/>
              </p:cNvPr>
              <p:cNvSpPr/>
              <p:nvPr/>
            </p:nvSpPr>
            <p:spPr>
              <a:xfrm>
                <a:off x="4505131" y="1916476"/>
                <a:ext cx="9620399" cy="1938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vi-VN" sz="2000" b="1" dirty="0" smtClean="0">
                    <a:solidFill>
                      <a:srgbClr val="FF0000"/>
                    </a:solidFill>
                    <a:latin typeface="+mj-lt"/>
                  </a:rPr>
                  <a:t>Giải:</a:t>
                </a:r>
              </a:p>
              <a:p>
                <a:r>
                  <a:rPr lang="vi-VN" sz="20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   Số tiền An mua 5 quyển vở là: 5 </a:t>
                </a:r>
                <a14:m>
                  <m:oMath xmlns:m="http://schemas.openxmlformats.org/officeDocument/2006/math">
                    <m:r>
                      <a:rPr lang="vi-VN" sz="2000" b="1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vi-VN" sz="20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 3000 = 15 000 ( đồng )</a:t>
                </a:r>
              </a:p>
              <a:p>
                <a:r>
                  <a:rPr lang="vi-VN" sz="20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   Số </a:t>
                </a:r>
                <a:r>
                  <a:rPr lang="vi-VN" sz="2000" b="1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tiền An mua </a:t>
                </a:r>
                <a:r>
                  <a:rPr lang="vi-VN" sz="20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6 cây bút bi  </a:t>
                </a:r>
                <a:r>
                  <a:rPr lang="vi-VN" sz="2000" b="1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là</a:t>
                </a:r>
                <a:r>
                  <a:rPr lang="vi-VN" sz="20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: 6 </a:t>
                </a:r>
                <a14:m>
                  <m:oMath xmlns:m="http://schemas.openxmlformats.org/officeDocument/2006/math">
                    <m:r>
                      <a:rPr lang="vi-VN" sz="2000" b="1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vi-VN" sz="20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 5000 = 30 000 ( đồng )</a:t>
                </a:r>
              </a:p>
              <a:p>
                <a:r>
                  <a:rPr lang="vi-VN" sz="20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   Số tiền An mua 2 cây bút chì là: 2</a:t>
                </a:r>
                <a14:m>
                  <m:oMath xmlns:m="http://schemas.openxmlformats.org/officeDocument/2006/math">
                    <m:r>
                      <a:rPr lang="vi-VN" sz="2000" b="1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vi-VN" sz="20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5000 = 10 000 ( đồng )</a:t>
                </a:r>
              </a:p>
              <a:p>
                <a:r>
                  <a:rPr lang="vi-VN" sz="20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   Số tiền An còn lại là: 100000 – ( 15000 </a:t>
                </a:r>
                <a:r>
                  <a:rPr lang="vi-VN" sz="2000" b="1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+</a:t>
                </a:r>
                <a:r>
                  <a:rPr lang="vi-VN" sz="20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 30000 + 10000 )  </a:t>
                </a:r>
              </a:p>
              <a:p>
                <a:r>
                  <a:rPr lang="vi-VN" sz="2000" b="1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vi-VN" sz="20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                                   = 45000 ( đồng )</a:t>
                </a:r>
                <a:endParaRPr lang="vi-VN" sz="2000" b="1" dirty="0">
                  <a:solidFill>
                    <a:schemeClr val="accent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6" name="Rectangle 35">
                <a:hlinkClick r:id="rId11" action="ppaction://hlinksldjump"/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5131" y="1916476"/>
                <a:ext cx="9620399" cy="1938992"/>
              </a:xfrm>
              <a:prstGeom prst="rect">
                <a:avLst/>
              </a:prstGeom>
              <a:blipFill>
                <a:blip r:embed="rId12"/>
                <a:stretch>
                  <a:fillRect l="-634" t="-1572" b="-471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918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7" grpId="0" animBg="1"/>
      <p:bldP spid="30" grpId="0" animBg="1"/>
      <p:bldP spid="31" grpId="0" animBg="1"/>
      <p:bldP spid="32" grpId="0"/>
      <p:bldP spid="33" grpId="0"/>
      <p:bldP spid="34" grpId="0"/>
      <p:bldP spid="3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4979" y="139271"/>
            <a:ext cx="8077200" cy="18097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327" y="1973735"/>
            <a:ext cx="9401175" cy="47244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6913" y="959967"/>
            <a:ext cx="219075" cy="285750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7153" y="947610"/>
            <a:ext cx="219075" cy="285750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7375" y="1319599"/>
            <a:ext cx="219075" cy="285750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2642" y="1629807"/>
            <a:ext cx="219075" cy="285750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1605" y="1319343"/>
            <a:ext cx="219075" cy="285750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cxnSp>
        <p:nvCxnSpPr>
          <p:cNvPr id="37" name="Straight Connector 36"/>
          <p:cNvCxnSpPr/>
          <p:nvPr/>
        </p:nvCxnSpPr>
        <p:spPr>
          <a:xfrm>
            <a:off x="2922376" y="3991233"/>
            <a:ext cx="69197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2922376" y="2858530"/>
            <a:ext cx="988541" cy="823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2934733" y="5107461"/>
            <a:ext cx="4287794" cy="823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2897662" y="5800984"/>
            <a:ext cx="2865609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Picture 4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3052" y="5931500"/>
            <a:ext cx="742950" cy="1019175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8306832" y="1674677"/>
            <a:ext cx="148470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20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 17.23 = 391</a:t>
            </a:r>
            <a:endParaRPr lang="vi-VN" sz="20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364540" y="2006938"/>
            <a:ext cx="142058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20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23.17 = 391</a:t>
            </a:r>
            <a:endParaRPr lang="vi-VN" sz="20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306832" y="2604474"/>
            <a:ext cx="21852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20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 (5.6).3 = 30.3 = 90</a:t>
            </a:r>
            <a:endParaRPr lang="vi-VN" sz="20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306832" y="2998519"/>
            <a:ext cx="21852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20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 5.(6.3) = 5.18 = 90</a:t>
            </a:r>
            <a:endParaRPr lang="vi-VN" sz="20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365593" y="3532986"/>
            <a:ext cx="31646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20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 23.(43 + 17) = 23.60 = 1380</a:t>
            </a:r>
            <a:endParaRPr lang="vi-VN" sz="20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361537" y="3857435"/>
            <a:ext cx="378180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20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 23.43 + 23.17 = 989 + 391 = 1380</a:t>
            </a:r>
            <a:endParaRPr lang="vi-VN" sz="20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4943" y="5682697"/>
            <a:ext cx="1343025" cy="40957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7968" y="5707411"/>
            <a:ext cx="1819275" cy="390525"/>
          </a:xfrm>
          <a:prstGeom prst="rect">
            <a:avLst/>
          </a:prstGeom>
        </p:spPr>
      </p:pic>
      <p:sp>
        <p:nvSpPr>
          <p:cNvPr id="22" name="Curved Up Arrow 21"/>
          <p:cNvSpPr/>
          <p:nvPr/>
        </p:nvSpPr>
        <p:spPr>
          <a:xfrm>
            <a:off x="7037177" y="6159329"/>
            <a:ext cx="536360" cy="281759"/>
          </a:xfrm>
          <a:prstGeom prst="curvedUp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32" name="Curved Up Arrow 31"/>
          <p:cNvSpPr/>
          <p:nvPr/>
        </p:nvSpPr>
        <p:spPr>
          <a:xfrm flipV="1">
            <a:off x="7030870" y="5457436"/>
            <a:ext cx="1097428" cy="313168"/>
          </a:xfrm>
          <a:prstGeom prst="curvedUpArrow">
            <a:avLst>
              <a:gd name="adj1" fmla="val 25000"/>
              <a:gd name="adj2" fmla="val 50000"/>
              <a:gd name="adj3" fmla="val 49746"/>
            </a:avLst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8219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18" grpId="0"/>
      <p:bldP spid="20" grpId="0"/>
      <p:bldP spid="22" grpId="0" animBg="1"/>
      <p:bldP spid="3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141" y="31716"/>
            <a:ext cx="9255713" cy="129968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714" y="2939352"/>
            <a:ext cx="9565175" cy="218525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11985" y="1365638"/>
            <a:ext cx="263332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= 11.20 + 89.20</a:t>
            </a:r>
          </a:p>
          <a:p>
            <a:r>
              <a:rPr lang="vi-VN" sz="2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= 20.( 11 + 89 )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378" y="1335457"/>
            <a:ext cx="510316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= ( 1 + 3 + 7 + 9 ).(  11 + 89 ) </a:t>
            </a:r>
          </a:p>
          <a:p>
            <a:r>
              <a:rPr lang="vi-VN" sz="2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= 20.( 11 + 89 )</a:t>
            </a:r>
          </a:p>
          <a:p>
            <a:r>
              <a:rPr lang="vi-VN" sz="2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= 20.100</a:t>
            </a:r>
          </a:p>
          <a:p>
            <a:r>
              <a:rPr lang="vi-VN" sz="2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= 200</a:t>
            </a:r>
            <a:endParaRPr lang="vi-VN" sz="24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958936" y="5221965"/>
            <a:ext cx="932595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1234.9 = 1234 . ( 10 -1 ) = 1234.10 – 1234.1 = 12340 – 1234 </a:t>
            </a:r>
            <a:r>
              <a:rPr lang="vi-VN" sz="2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= 11106  </a:t>
            </a:r>
            <a:endParaRPr lang="vi-VN" sz="24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945872" y="5748944"/>
            <a:ext cx="114902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1234.99 = 1234 . ( 100 -1 ) = 1234.100 – 1234.1 = 123400 – 1234 </a:t>
            </a:r>
            <a:r>
              <a:rPr lang="vi-VN" sz="2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=122166   </a:t>
            </a:r>
            <a:endParaRPr lang="vi-VN" sz="24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8120" y="6767482"/>
            <a:ext cx="742950" cy="10191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377" y="1695665"/>
            <a:ext cx="3114675" cy="400050"/>
          </a:xfrm>
          <a:prstGeom prst="rect">
            <a:avLst/>
          </a:prstGeom>
        </p:spPr>
      </p:pic>
      <p:sp>
        <p:nvSpPr>
          <p:cNvPr id="4" name="Right Arrow 3"/>
          <p:cNvSpPr/>
          <p:nvPr/>
        </p:nvSpPr>
        <p:spPr>
          <a:xfrm>
            <a:off x="705396" y="1456342"/>
            <a:ext cx="2063931" cy="222341"/>
          </a:xfrm>
          <a:prstGeom prst="rightArrow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3" name="Right Arrow 12"/>
          <p:cNvSpPr/>
          <p:nvPr/>
        </p:nvSpPr>
        <p:spPr>
          <a:xfrm rot="10800000">
            <a:off x="700791" y="2220654"/>
            <a:ext cx="2063931" cy="222341"/>
          </a:xfrm>
          <a:prstGeom prst="rightArrow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5" name="Rectangle 14"/>
          <p:cNvSpPr/>
          <p:nvPr/>
        </p:nvSpPr>
        <p:spPr>
          <a:xfrm>
            <a:off x="4498922" y="2130688"/>
            <a:ext cx="263332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= 20.100</a:t>
            </a:r>
          </a:p>
          <a:p>
            <a:r>
              <a:rPr lang="vi-VN" sz="2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= 200</a:t>
            </a:r>
            <a:endParaRPr lang="vi-VN" sz="24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64204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4" grpId="0" animBg="1"/>
      <p:bldP spid="13" grpId="0" animBg="1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2135" y="5674966"/>
            <a:ext cx="742950" cy="10191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915" y="5234425"/>
            <a:ext cx="12065085" cy="1080088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573426" y="2926359"/>
            <a:ext cx="1061857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a</a:t>
            </a:r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) Số tiền các bạn còn </a:t>
            </a:r>
            <a:r>
              <a:rPr lang="vi-VN" sz="2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thiếu </a:t>
            </a:r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là: 200 000 – 80 000 = 120 000 </a:t>
            </a:r>
            <a:r>
              <a:rPr lang="vi-VN" sz="2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(đồng)</a:t>
            </a:r>
            <a:endParaRPr lang="vi-VN" sz="24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  <a:p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b) </a:t>
            </a:r>
            <a:r>
              <a:rPr lang="vi-VN" sz="2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Số tháng các bạn cần </a:t>
            </a:r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phải thực hiện gây quỹ </a:t>
            </a:r>
            <a:r>
              <a:rPr lang="vi-VN" sz="2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là: </a:t>
            </a:r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120 000 : 20 000 = 6 </a:t>
            </a:r>
            <a:r>
              <a:rPr lang="vi-VN" sz="2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(tháng)</a:t>
            </a:r>
            <a:endParaRPr lang="vi-VN" sz="2400" b="1" i="0" dirty="0">
              <a:solidFill>
                <a:schemeClr val="accent1">
                  <a:lumMod val="50000"/>
                </a:schemeClr>
              </a:solidFill>
              <a:effectLst/>
              <a:latin typeface="+mj-lt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46" y="63969"/>
            <a:ext cx="11391900" cy="29241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346" y="3975188"/>
            <a:ext cx="11982229" cy="129952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31745" y="3037572"/>
            <a:ext cx="7473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2400" b="1" dirty="0">
                <a:solidFill>
                  <a:srgbClr val="FF0000"/>
                </a:solidFill>
                <a:latin typeface="+mj-lt"/>
              </a:rPr>
              <a:t>Giải</a:t>
            </a:r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7679338" y="4854797"/>
            <a:ext cx="1007462" cy="412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9391152" y="4857476"/>
            <a:ext cx="1396297" cy="719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V="1">
            <a:off x="2401347" y="5274712"/>
            <a:ext cx="2936772" cy="719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126915" y="6261756"/>
            <a:ext cx="119525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2009261" y="6261756"/>
            <a:ext cx="474988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5771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42" y="852962"/>
            <a:ext cx="11643504" cy="172354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334518" y="3101152"/>
            <a:ext cx="877067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Vậy 24 năm nữa thì số tuổi của An bằng tuổi của mẹ An năm nay.</a:t>
            </a:r>
          </a:p>
        </p:txBody>
      </p:sp>
      <p:sp>
        <p:nvSpPr>
          <p:cNvPr id="6" name="Rectangle 5"/>
          <p:cNvSpPr/>
          <p:nvPr/>
        </p:nvSpPr>
        <p:spPr>
          <a:xfrm>
            <a:off x="2996240" y="2607997"/>
            <a:ext cx="29496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l-PL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a) Ta có: 36 – 12 = 24</a:t>
            </a:r>
            <a:endParaRPr lang="vi-VN" sz="24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996240" y="3563165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l-PL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b) Ta có: 36 : 12 = </a:t>
            </a:r>
            <a:r>
              <a:rPr lang="pl-PL" sz="2400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pl-PL" sz="24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407414" y="4037099"/>
            <a:ext cx="76190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Vậy năm nay số tuổi của mẹ An gấp 3 lần số tuổi của An.</a:t>
            </a:r>
          </a:p>
        </p:txBody>
      </p:sp>
    </p:spTree>
    <p:extLst>
      <p:ext uri="{BB962C8B-B14F-4D97-AF65-F5344CB8AC3E}">
        <p14:creationId xmlns:p14="http://schemas.microsoft.com/office/powerpoint/2010/main" val="3613990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071" y="1495168"/>
            <a:ext cx="11572272" cy="3238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808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4" name="Content Placeholder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86"/>
            <a:ext cx="12180824" cy="68517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00169" y="1535090"/>
            <a:ext cx="22365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TOÁN 6 </a:t>
            </a:r>
            <a:endParaRPr lang="vi-VN" sz="28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98696" y="1117453"/>
            <a:ext cx="45403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000" b="1" dirty="0" smtClean="0">
                <a:solidFill>
                  <a:srgbClr val="FF0000"/>
                </a:solidFill>
                <a:latin typeface="+mj-lt"/>
              </a:rPr>
              <a:t>CHÂN TRỜI SÁNG TẠO </a:t>
            </a:r>
            <a:endParaRPr lang="vi-VN" sz="3000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756809" y="1919796"/>
            <a:ext cx="51128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CHƯƠNG 1: SỐ TỰ NHIÊN </a:t>
            </a:r>
            <a:endParaRPr lang="vi-VN" sz="28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32871" y="3025275"/>
            <a:ext cx="9616226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4400" b="1" dirty="0" smtClean="0">
                <a:ln w="22225">
                  <a:solidFill>
                    <a:schemeClr val="accent1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</a:rPr>
              <a:t>GIẢI BÀI TẬP</a:t>
            </a:r>
          </a:p>
          <a:p>
            <a:pPr algn="ctr"/>
            <a:r>
              <a:rPr lang="vi-VN" sz="3600" b="1" dirty="0" smtClean="0">
                <a:ln w="22225">
                  <a:solidFill>
                    <a:schemeClr val="accent1">
                      <a:lumMod val="50000"/>
                    </a:schemeClr>
                  </a:solidFill>
                  <a:prstDash val="solid"/>
                </a:ln>
                <a:solidFill>
                  <a:schemeClr val="accent1">
                    <a:lumMod val="50000"/>
                  </a:schemeClr>
                </a:soli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</a:rPr>
              <a:t>BÀI 3: CÁC PHÉP TÍNH</a:t>
            </a:r>
          </a:p>
          <a:p>
            <a:pPr algn="ctr"/>
            <a:r>
              <a:rPr lang="vi-VN" sz="3600" b="1" dirty="0" smtClean="0">
                <a:ln w="22225">
                  <a:solidFill>
                    <a:schemeClr val="accent1">
                      <a:lumMod val="50000"/>
                    </a:schemeClr>
                  </a:solidFill>
                  <a:prstDash val="solid"/>
                </a:ln>
                <a:solidFill>
                  <a:schemeClr val="accent1">
                    <a:lumMod val="50000"/>
                  </a:schemeClr>
                </a:soli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</a:rPr>
              <a:t>TRONG TẬP HỢP SỐ TỰ NHIÊN</a:t>
            </a:r>
            <a:endParaRPr lang="vi-VN" sz="3600" b="1" dirty="0">
              <a:ln w="22225">
                <a:solidFill>
                  <a:schemeClr val="accent1">
                    <a:lumMod val="50000"/>
                  </a:schemeClr>
                </a:solidFill>
                <a:prstDash val="solid"/>
              </a:ln>
              <a:solidFill>
                <a:schemeClr val="accent1">
                  <a:lumMod val="50000"/>
                </a:schemeClr>
              </a:solidFill>
              <a:effectLst>
                <a:outerShdw blurRad="60007" dist="200025" dir="15000000" sy="30000" kx="-1800000" algn="bl" rotWithShape="0">
                  <a:prstClr val="black">
                    <a:alpha val="32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07742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7006" y="0"/>
            <a:ext cx="1200150" cy="59055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433376" y="1482644"/>
            <a:ext cx="1101210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= ( 2021 + 2029 ) + ( 2022 + 2028 ) + ( 2023 + 2027 ) + ( 2024 + 2026 ) + 2025</a:t>
            </a:r>
          </a:p>
          <a:p>
            <a:r>
              <a:rPr lang="vi-VN" sz="2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=        4050           +         4050          +          </a:t>
            </a:r>
            <a:r>
              <a:rPr lang="vi-VN" sz="2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4050         </a:t>
            </a:r>
            <a:r>
              <a:rPr lang="vi-VN" sz="2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+           4050        + 2025 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945" y="466341"/>
            <a:ext cx="9714989" cy="98776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7375" y="3867796"/>
            <a:ext cx="2343790" cy="400159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412657" y="4312379"/>
            <a:ext cx="1149028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= 1200.50.60</a:t>
            </a:r>
          </a:p>
          <a:p>
            <a:r>
              <a:rPr lang="vi-VN" sz="2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= 60000.60</a:t>
            </a:r>
          </a:p>
          <a:p>
            <a:r>
              <a:rPr lang="vi-VN" sz="2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= 360000</a:t>
            </a:r>
            <a:endParaRPr lang="vi-VN" sz="24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525926" y="4287664"/>
            <a:ext cx="319615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= (30.60).(40.50)</a:t>
            </a:r>
          </a:p>
          <a:p>
            <a:r>
              <a:rPr lang="vi-VN" sz="2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= 1800   . 2000</a:t>
            </a:r>
          </a:p>
          <a:p>
            <a:r>
              <a:rPr lang="vi-VN" sz="2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= 360000</a:t>
            </a:r>
            <a:endParaRPr lang="vi-VN" sz="24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433376" y="2248938"/>
            <a:ext cx="1101210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=        </a:t>
            </a:r>
            <a:r>
              <a:rPr lang="vi-VN" sz="2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4. 4050 + 2025</a:t>
            </a:r>
          </a:p>
          <a:p>
            <a:r>
              <a:rPr lang="vi-VN" sz="2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=        16250   + 2025</a:t>
            </a:r>
          </a:p>
          <a:p>
            <a:r>
              <a:rPr lang="vi-VN" sz="2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=         18275   </a:t>
            </a:r>
            <a:endParaRPr lang="vi-VN" sz="24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6150" y="5602687"/>
            <a:ext cx="952500" cy="1409700"/>
          </a:xfrm>
          <a:prstGeom prst="rect">
            <a:avLst/>
          </a:prstGeom>
        </p:spPr>
      </p:pic>
      <p:sp>
        <p:nvSpPr>
          <p:cNvPr id="15" name="Curved Up Arrow 14"/>
          <p:cNvSpPr/>
          <p:nvPr/>
        </p:nvSpPr>
        <p:spPr>
          <a:xfrm flipV="1">
            <a:off x="2211734" y="234777"/>
            <a:ext cx="7871380" cy="774301"/>
          </a:xfrm>
          <a:prstGeom prst="curvedUpArrow">
            <a:avLst>
              <a:gd name="adj1" fmla="val 31310"/>
              <a:gd name="adj2" fmla="val 76003"/>
              <a:gd name="adj3" fmla="val 30999"/>
            </a:avLst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16" name="Curved Up Arrow 15"/>
          <p:cNvSpPr/>
          <p:nvPr/>
        </p:nvSpPr>
        <p:spPr>
          <a:xfrm flipV="1">
            <a:off x="3126258" y="387175"/>
            <a:ext cx="6030099" cy="774301"/>
          </a:xfrm>
          <a:prstGeom prst="curvedUpArrow">
            <a:avLst>
              <a:gd name="adj1" fmla="val 31310"/>
              <a:gd name="adj2" fmla="val 76003"/>
              <a:gd name="adj3" fmla="val 30999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17" name="Curved Up Arrow 16"/>
          <p:cNvSpPr/>
          <p:nvPr/>
        </p:nvSpPr>
        <p:spPr>
          <a:xfrm flipV="1">
            <a:off x="4114801" y="466341"/>
            <a:ext cx="3892378" cy="571272"/>
          </a:xfrm>
          <a:prstGeom prst="curvedUpArrow">
            <a:avLst>
              <a:gd name="adj1" fmla="val 31310"/>
              <a:gd name="adj2" fmla="val 81027"/>
              <a:gd name="adj3" fmla="val 30999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18" name="Curved Up Arrow 17"/>
          <p:cNvSpPr/>
          <p:nvPr/>
        </p:nvSpPr>
        <p:spPr>
          <a:xfrm flipV="1">
            <a:off x="4930347" y="593296"/>
            <a:ext cx="2261286" cy="447064"/>
          </a:xfrm>
          <a:prstGeom prst="curvedUpArrow">
            <a:avLst>
              <a:gd name="adj1" fmla="val 31310"/>
              <a:gd name="adj2" fmla="val 81027"/>
              <a:gd name="adj3" fmla="val 30999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4923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  <p:bldP spid="14" grpId="0"/>
      <p:bldP spid="11" grpId="0"/>
      <p:bldP spid="15" grpId="0" animBg="1"/>
      <p:bldP spid="16" grpId="0" animBg="1"/>
      <p:bldP spid="17" grpId="0" animBg="1"/>
      <p:bldP spid="1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4465"/>
            <a:ext cx="12208397" cy="133024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>
                <a:hlinkClick r:id="rId3" action="ppaction://hlinksldjump"/>
              </p:cNvPr>
              <p:cNvSpPr/>
              <p:nvPr/>
            </p:nvSpPr>
            <p:spPr>
              <a:xfrm>
                <a:off x="1293998" y="2454708"/>
                <a:ext cx="9620399" cy="23083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vi-VN" sz="2400" b="1" dirty="0" smtClean="0">
                    <a:solidFill>
                      <a:srgbClr val="FF0000"/>
                    </a:solidFill>
                    <a:latin typeface="+mj-lt"/>
                  </a:rPr>
                  <a:t>Giải:</a:t>
                </a:r>
              </a:p>
              <a:p>
                <a:r>
                  <a:rPr lang="vi-VN" sz="24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   Số </a:t>
                </a:r>
                <a:r>
                  <a:rPr lang="vi-VN" sz="24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tiền </a:t>
                </a:r>
                <a:r>
                  <a:rPr lang="vi-VN" sz="24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mua </a:t>
                </a:r>
                <a:r>
                  <a:rPr lang="vi-VN" sz="24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9 </a:t>
                </a:r>
                <a:r>
                  <a:rPr lang="vi-VN" sz="24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quyển vở là: </a:t>
                </a:r>
                <a:r>
                  <a:rPr lang="vi-VN" sz="24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9 </a:t>
                </a:r>
                <a14:m>
                  <m:oMath xmlns:m="http://schemas.openxmlformats.org/officeDocument/2006/math">
                    <m:r>
                      <a:rPr lang="vi-VN" sz="2400" b="1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vi-VN" sz="24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vi-VN" sz="2400" b="1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49</a:t>
                </a:r>
                <a:r>
                  <a:rPr lang="vi-VN" sz="24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00 </a:t>
                </a:r>
                <a:r>
                  <a:rPr lang="vi-VN" sz="24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= </a:t>
                </a:r>
                <a:r>
                  <a:rPr lang="vi-VN" sz="2400" b="1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44</a:t>
                </a:r>
                <a:r>
                  <a:rPr lang="vi-VN" sz="24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vi-VN" sz="24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1</a:t>
                </a:r>
                <a:r>
                  <a:rPr lang="vi-VN" sz="24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00 </a:t>
                </a:r>
                <a:r>
                  <a:rPr lang="vi-VN" sz="24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( đồng )</a:t>
                </a:r>
              </a:p>
              <a:p>
                <a:r>
                  <a:rPr lang="vi-VN" sz="24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   Số </a:t>
                </a:r>
                <a:r>
                  <a:rPr lang="vi-VN" sz="24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tiền </a:t>
                </a:r>
                <a:r>
                  <a:rPr lang="vi-VN" sz="2400" b="1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mua </a:t>
                </a:r>
                <a:r>
                  <a:rPr lang="vi-VN" sz="24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5</a:t>
                </a:r>
                <a:r>
                  <a:rPr lang="vi-VN" sz="24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vi-VN" sz="24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cây bút bi  </a:t>
                </a:r>
                <a:r>
                  <a:rPr lang="vi-VN" sz="2400" b="1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là</a:t>
                </a:r>
                <a:r>
                  <a:rPr lang="vi-VN" sz="24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: </a:t>
                </a:r>
                <a:r>
                  <a:rPr lang="vi-VN" sz="2400" b="1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5</a:t>
                </a:r>
                <a:r>
                  <a:rPr lang="vi-VN" sz="24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1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vi-VN" sz="24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vi-VN" sz="2400" b="1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29</a:t>
                </a:r>
                <a:r>
                  <a:rPr lang="vi-VN" sz="24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00 </a:t>
                </a:r>
                <a:r>
                  <a:rPr lang="vi-VN" sz="24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= </a:t>
                </a:r>
                <a:r>
                  <a:rPr lang="vi-VN" sz="2400" b="1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14</a:t>
                </a:r>
                <a:r>
                  <a:rPr lang="vi-VN" sz="24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vi-VN" sz="2400" b="1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5</a:t>
                </a:r>
                <a:r>
                  <a:rPr lang="vi-VN" sz="24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00 </a:t>
                </a:r>
                <a:r>
                  <a:rPr lang="vi-VN" sz="24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( đồng )</a:t>
                </a:r>
              </a:p>
              <a:p>
                <a:r>
                  <a:rPr lang="vi-VN" sz="24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   Số </a:t>
                </a:r>
                <a:r>
                  <a:rPr lang="vi-VN" sz="24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tiền </a:t>
                </a:r>
                <a:r>
                  <a:rPr lang="vi-VN" sz="24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mua 2 </a:t>
                </a:r>
                <a:r>
                  <a:rPr lang="vi-VN" sz="24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cục tẩy</a:t>
                </a:r>
                <a:r>
                  <a:rPr lang="vi-VN" sz="24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vi-VN" sz="24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là: 2</a:t>
                </a:r>
                <a14:m>
                  <m:oMath xmlns:m="http://schemas.openxmlformats.org/officeDocument/2006/math">
                    <m:r>
                      <a:rPr lang="vi-VN" sz="2400" b="1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vi-VN" sz="24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5000 = 10 000 ( đồng </a:t>
                </a:r>
                <a:r>
                  <a:rPr lang="vi-VN" sz="24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)</a:t>
                </a:r>
              </a:p>
              <a:p>
                <a:endParaRPr lang="vi-VN" sz="2400" b="1" dirty="0" smtClean="0">
                  <a:solidFill>
                    <a:schemeClr val="accent1">
                      <a:lumMod val="50000"/>
                    </a:schemeClr>
                  </a:solidFill>
                  <a:latin typeface="+mj-lt"/>
                </a:endParaRPr>
              </a:p>
              <a:p>
                <a:r>
                  <a:rPr lang="vi-VN" sz="24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   </a:t>
                </a:r>
                <a:r>
                  <a:rPr lang="vi-VN" sz="24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Tổng số tiền đã mua là : </a:t>
                </a:r>
                <a:r>
                  <a:rPr lang="vi-VN" sz="2400" b="1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44 100 </a:t>
                </a:r>
                <a:r>
                  <a:rPr lang="vi-VN" sz="24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+ </a:t>
                </a:r>
                <a:r>
                  <a:rPr lang="vi-VN" sz="2400" b="1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14 500 </a:t>
                </a:r>
                <a:r>
                  <a:rPr lang="vi-VN" sz="24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+ </a:t>
                </a:r>
                <a:r>
                  <a:rPr lang="vi-VN" sz="2400" b="1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10 </a:t>
                </a:r>
                <a:r>
                  <a:rPr lang="vi-VN" sz="24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000 = 66 600 (đồng) </a:t>
                </a:r>
                <a:endParaRPr lang="vi-VN" sz="2400" b="1" dirty="0">
                  <a:solidFill>
                    <a:schemeClr val="accent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7" name="Rectangle 6">
                <a:hlinkClick r:id="rId3" action="ppaction://hlinksldjump"/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3998" y="2454708"/>
                <a:ext cx="9620399" cy="2308324"/>
              </a:xfrm>
              <a:prstGeom prst="rect">
                <a:avLst/>
              </a:prstGeom>
              <a:blipFill>
                <a:blip r:embed="rId4"/>
                <a:stretch>
                  <a:fillRect l="-951" t="-2116" b="-529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5520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3234"/>
            <a:ext cx="12129757" cy="1370663"/>
          </a:xfrm>
          <a:prstGeom prst="rect">
            <a:avLst/>
          </a:prstGeom>
        </p:spPr>
      </p:pic>
      <p:cxnSp>
        <p:nvCxnSpPr>
          <p:cNvPr id="5" name="Straight Arrow Connector 4"/>
          <p:cNvCxnSpPr/>
          <p:nvPr/>
        </p:nvCxnSpPr>
        <p:spPr>
          <a:xfrm flipH="1" flipV="1">
            <a:off x="8447370" y="3553054"/>
            <a:ext cx="988542" cy="14930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4" descr="https://encrypted-tbn0.gstatic.com/images?q=tbn:ANd9GcSmomARAwtI3xDObAmXNq8QGbxdaZHl3G_zn98wdzs4dXJ8K1BZKmDEiaClcek3GvfR9Dwb1Zz_J6U&amp;usqp=CA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2523" y="2199481"/>
            <a:ext cx="2628900" cy="262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9489457" y="3716274"/>
            <a:ext cx="345989" cy="50662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2000">
              <a:latin typeface="+mj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345296" y="3337330"/>
            <a:ext cx="345989" cy="50662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2000">
              <a:latin typeface="+mj-l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489458" y="2830702"/>
            <a:ext cx="461318" cy="50662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2000">
              <a:latin typeface="+mj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790139" y="2439402"/>
            <a:ext cx="461318" cy="50662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2000">
              <a:latin typeface="+mj-l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0263816" y="2381734"/>
            <a:ext cx="461318" cy="50662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2000">
              <a:latin typeface="+mj-lt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331123" y="3755400"/>
            <a:ext cx="115254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0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8 tiếng</a:t>
            </a:r>
            <a:endParaRPr lang="vi-VN" sz="20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328669" y="2891175"/>
            <a:ext cx="115254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0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10</a:t>
            </a:r>
            <a:r>
              <a:rPr lang="vi-VN" sz="20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 tiếng</a:t>
            </a:r>
            <a:endParaRPr lang="vi-VN" sz="20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332785" y="2549304"/>
            <a:ext cx="115254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0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11 tiếng</a:t>
            </a:r>
            <a:endParaRPr lang="vi-VN" sz="20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336902" y="2244501"/>
            <a:ext cx="115254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0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12 tiếng</a:t>
            </a:r>
            <a:endParaRPr lang="vi-VN" sz="20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 flipH="1">
            <a:off x="8443253" y="3969587"/>
            <a:ext cx="1075037" cy="26770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>
            <a:off x="8418538" y="3106663"/>
            <a:ext cx="1017374" cy="0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0" idx="1"/>
          </p:cNvCxnSpPr>
          <p:nvPr/>
        </p:nvCxnSpPr>
        <p:spPr>
          <a:xfrm flipH="1">
            <a:off x="8406181" y="2692716"/>
            <a:ext cx="1383958" cy="12345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 flipV="1">
            <a:off x="8407472" y="2485422"/>
            <a:ext cx="2069501" cy="4949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7334840" y="3327035"/>
            <a:ext cx="115254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0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9</a:t>
            </a:r>
            <a:r>
              <a:rPr lang="vi-VN" sz="20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 tiếng</a:t>
            </a:r>
            <a:endParaRPr lang="vi-VN" sz="20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63211" y="2181009"/>
            <a:ext cx="6612392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400" b="1" i="1" dirty="0" smtClean="0">
                <a:solidFill>
                  <a:srgbClr val="FF0000"/>
                </a:solidFill>
                <a:latin typeface="+mj-lt"/>
              </a:rPr>
              <a:t>GIẢI</a:t>
            </a:r>
          </a:p>
          <a:p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T</a:t>
            </a:r>
            <a:r>
              <a:rPr lang="vi-VN" sz="2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ổng </a:t>
            </a:r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số tiếng “boong” mà đồng hồ đã đánh </a:t>
            </a:r>
            <a:endParaRPr lang="vi-VN" sz="24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  <a:p>
            <a:r>
              <a:rPr lang="vi-VN" sz="2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từ </a:t>
            </a:r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lúc </a:t>
            </a:r>
            <a:r>
              <a:rPr lang="vi-VN" sz="2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đúng </a:t>
            </a:r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8 giờ đến lúc đúng 12 giờ trưa là</a:t>
            </a:r>
            <a:r>
              <a:rPr lang="vi-VN" sz="2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:</a:t>
            </a:r>
          </a:p>
          <a:p>
            <a:endParaRPr lang="vi-VN" sz="32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80499" y="3873780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vi-VN" sz="2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=  </a:t>
            </a:r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( 8 + 12 ) + ( 9 + 11 ) + 10</a:t>
            </a:r>
          </a:p>
          <a:p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=       20       +      20       + 10</a:t>
            </a:r>
          </a:p>
          <a:p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=                        50 </a:t>
            </a:r>
            <a:endParaRPr lang="vi-VN" sz="2400" dirty="0">
              <a:latin typeface="+mj-lt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915256" y="3412115"/>
            <a:ext cx="27132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8 + 9 + 10 + 11 + 12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06159" y="4609182"/>
            <a:ext cx="39876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( tiếng ) </a:t>
            </a:r>
          </a:p>
          <a:p>
            <a:endParaRPr lang="vi-VN" sz="24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99863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/>
      <p:bldP spid="13" grpId="0"/>
      <p:bldP spid="14" grpId="0"/>
      <p:bldP spid="15" grpId="0"/>
      <p:bldP spid="20" grpId="0"/>
      <p:bldP spid="21" grpId="0"/>
      <p:bldP spid="22" grpId="0"/>
      <p:bldP spid="23" grpId="0"/>
      <p:bldP spid="2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568" y="740113"/>
            <a:ext cx="12068432" cy="1542214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1509171" y="2520476"/>
            <a:ext cx="631017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            Ta có: 40000 : 2000 = 20  </a:t>
            </a:r>
          </a:p>
          <a:p>
            <a:endParaRPr lang="vi-VN" sz="24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374144" y="3136642"/>
            <a:ext cx="820899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Vậy độ dài đường xích đạo dài gấp 20 lần khoảng cách giữa thành phố Hà Nội và thành phố Hồ Chí Minh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2260" y="2474310"/>
            <a:ext cx="114188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400" b="1" i="1" dirty="0">
                <a:solidFill>
                  <a:srgbClr val="FF0000"/>
                </a:solidFill>
                <a:latin typeface="+mj-lt"/>
              </a:rPr>
              <a:t>GIẢI</a:t>
            </a:r>
            <a:endParaRPr lang="vi-VN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15990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1246</TotalTime>
  <Words>608</Words>
  <Application>Microsoft Office PowerPoint</Application>
  <PresentationFormat>Widescreen</PresentationFormat>
  <Paragraphs>81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BEAN</dc:creator>
  <cp:lastModifiedBy>BEAN</cp:lastModifiedBy>
  <cp:revision>90</cp:revision>
  <dcterms:created xsi:type="dcterms:W3CDTF">2021-06-12T02:17:51Z</dcterms:created>
  <dcterms:modified xsi:type="dcterms:W3CDTF">2021-06-29T13:50:12Z</dcterms:modified>
</cp:coreProperties>
</file>