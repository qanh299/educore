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80" r:id="rId9"/>
    <p:sldId id="276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79" autoAdjust="0"/>
  </p:normalViewPr>
  <p:slideViewPr>
    <p:cSldViewPr snapToGrid="0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727E4-4995-49BC-A63F-AC75DBE2A596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42A15-AFEB-46FF-88A4-4F086E0FA4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2019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7518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6362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0452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42A15-AFEB-46FF-88A4-4F086E0FA44A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47828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632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767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411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587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723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291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693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855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7118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68328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663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93D51-1F06-4472-B93F-6F818230CAE7}" type="datetimeFigureOut">
              <a:rPr lang="vi-VN" smtClean="0"/>
              <a:t>02/07/2021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95A9E-70D6-4214-9F2E-04F49FBD96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813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5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16.png"/><Relationship Id="rId9" Type="http://schemas.openxmlformats.org/officeDocument/2006/relationships/image" Target="../media/image1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12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30.png"/><Relationship Id="rId5" Type="http://schemas.openxmlformats.org/officeDocument/2006/relationships/image" Target="../media/image22.png"/><Relationship Id="rId10" Type="http://schemas.openxmlformats.org/officeDocument/2006/relationships/image" Target="../media/image29.png"/><Relationship Id="rId4" Type="http://schemas.openxmlformats.org/officeDocument/2006/relationships/image" Target="../media/image21.png"/><Relationship Id="rId9" Type="http://schemas.openxmlformats.org/officeDocument/2006/relationships/image" Target="../media/image28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365125"/>
            <a:ext cx="10515600" cy="1325563"/>
          </a:xfrm>
        </p:spPr>
        <p:txBody>
          <a:bodyPr/>
          <a:lstStyle/>
          <a:p>
            <a:endParaRPr lang="vi-V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"/>
            <a:ext cx="12180824" cy="6851714"/>
          </a:xfrm>
        </p:spPr>
      </p:pic>
      <p:sp>
        <p:nvSpPr>
          <p:cNvPr id="7" name="TextBox 6"/>
          <p:cNvSpPr txBox="1"/>
          <p:nvPr/>
        </p:nvSpPr>
        <p:spPr>
          <a:xfrm>
            <a:off x="5300169" y="1535090"/>
            <a:ext cx="2236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TOÁN 6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98696" y="1117453"/>
            <a:ext cx="45403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 smtClean="0">
                <a:solidFill>
                  <a:srgbClr val="FF0000"/>
                </a:solidFill>
                <a:latin typeface="+mj-lt"/>
              </a:rPr>
              <a:t>CHÂN TRỜI SÁNG TẠO </a:t>
            </a:r>
            <a:endParaRPr lang="vi-VN" sz="3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56809" y="1919796"/>
            <a:ext cx="5112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CHƯƠNG 1: SỐ TỰ NHIÊN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60754" y="3080848"/>
            <a:ext cx="96162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8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BÀI 4 : LŨY THỪA </a:t>
            </a:r>
          </a:p>
          <a:p>
            <a:pPr algn="ctr"/>
            <a:r>
              <a:rPr lang="vi-VN" sz="48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VỚI SỐ MŨ TỰ NHIÊN</a:t>
            </a:r>
            <a:endParaRPr lang="vi-VN" sz="4800" b="1" dirty="0">
              <a:ln w="22225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103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52" y="1083151"/>
            <a:ext cx="10506075" cy="1800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024" y="0"/>
            <a:ext cx="7839075" cy="1133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5" y="3183026"/>
            <a:ext cx="11039475" cy="8477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366" y="4194479"/>
            <a:ext cx="6696075" cy="1533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94853" y="4860030"/>
            <a:ext cx="98582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sz="2200" b="1" baseline="300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2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956848" y="5290917"/>
                <a:ext cx="525528" cy="4070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0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vi-VN" sz="20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𝟕</m:t>
                          </m:r>
                        </m:e>
                        <m:sup>
                          <m:r>
                            <a:rPr lang="vi-VN" sz="20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𝟔</m:t>
                          </m:r>
                        </m:sup>
                      </m:sSup>
                    </m:oMath>
                  </m:oMathPara>
                </a14:m>
                <a:endParaRPr lang="vi-VN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848" y="5290917"/>
                <a:ext cx="525528" cy="4070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7030998" y="3620534"/>
            <a:ext cx="1433385" cy="507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016627" y="3645247"/>
            <a:ext cx="52497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993927" y="3657014"/>
            <a:ext cx="16866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thừa số 4</a:t>
            </a:r>
            <a:r>
              <a:rPr lang="pt-BR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2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64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7" y="-24713"/>
            <a:ext cx="11744325" cy="19145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69" y="1871277"/>
            <a:ext cx="8753475" cy="10191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77" y="2871916"/>
            <a:ext cx="11782425" cy="14954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420" y="4344557"/>
            <a:ext cx="12182475" cy="200977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644349" y="2268214"/>
            <a:ext cx="6857997" cy="507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58107" y="2416902"/>
            <a:ext cx="284206" cy="430300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Rectangle 12"/>
          <p:cNvSpPr/>
          <p:nvPr/>
        </p:nvSpPr>
        <p:spPr>
          <a:xfrm>
            <a:off x="3126261" y="2392188"/>
            <a:ext cx="720814" cy="430299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Rectangle 14"/>
          <p:cNvSpPr/>
          <p:nvPr/>
        </p:nvSpPr>
        <p:spPr>
          <a:xfrm>
            <a:off x="5590561" y="2392188"/>
            <a:ext cx="885572" cy="420097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7" name="Rectangle 16"/>
          <p:cNvSpPr/>
          <p:nvPr/>
        </p:nvSpPr>
        <p:spPr>
          <a:xfrm>
            <a:off x="3908859" y="2392860"/>
            <a:ext cx="284206" cy="430300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144000" y="2871916"/>
                <a:ext cx="1927654" cy="41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4.4.4.4.4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endParaRPr lang="vi-VN" sz="20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0" y="2871916"/>
                <a:ext cx="1927654" cy="411651"/>
              </a:xfrm>
              <a:prstGeom prst="rect">
                <a:avLst/>
              </a:prstGeom>
              <a:blipFill>
                <a:blip r:embed="rId6"/>
                <a:stretch>
                  <a:fillRect l="-3165" t="-4412" b="-2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9183735" y="2435980"/>
                <a:ext cx="490775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vi-VN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vi-VN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735" y="2435980"/>
                <a:ext cx="490775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49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5" grpId="0" animBg="1"/>
      <p:bldP spid="17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58" y="118073"/>
            <a:ext cx="10821213" cy="24103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11390" y="2561669"/>
            <a:ext cx="434686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vi-VN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pt-BR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3 . 3 = 3</a:t>
            </a:r>
            <a:r>
              <a:rPr lang="pt-BR" sz="22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2200" b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pt-BR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pt-BR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6 . 6 . 6 = 6</a:t>
            </a:r>
            <a:r>
              <a:rPr lang="pt-BR" sz="22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  <a:endParaRPr lang="vi-VN" sz="2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304" y="2561669"/>
            <a:ext cx="13944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7781" y="3343178"/>
            <a:ext cx="106118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 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3</a:t>
            </a:r>
            <a:r>
              <a:rPr lang="vi-VN" sz="22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còn gọi là </a:t>
            </a:r>
            <a:r>
              <a:rPr lang="vi-VN" sz="2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“3 bình phương” 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“</a:t>
            </a:r>
            <a:r>
              <a:rPr lang="vi-VN" sz="2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 phương 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 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’’</a:t>
            </a:r>
            <a:endParaRPr lang="vi-VN" sz="2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04688" y="3737224"/>
            <a:ext cx="1034347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sz="22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còn gọi là “5 </a:t>
            </a:r>
            <a:r>
              <a:rPr lang="vi-VN" sz="2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 phương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hay “</a:t>
            </a:r>
            <a:r>
              <a:rPr lang="vi-VN" sz="2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 phương 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 5”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04" y="4445673"/>
            <a:ext cx="126507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sz="2200" b="1" baseline="300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được đọc là: “ba mũ mười” (hoặc “ba lũy thừa mười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hoặc 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“lũy thừa bậc mười của ba”).  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endParaRPr lang="vi-VN" sz="2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304" y="5340716"/>
            <a:ext cx="128975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vi-VN" sz="22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được đọc là: “mười mũ năm” (hoặc “mười lũy thừa năm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”,hoặc 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“lũy thừa bậc năm của mười”). </a:t>
            </a:r>
            <a:endParaRPr lang="vi-VN" sz="2200" b="1" dirty="0" smtClean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Trong 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đó, cơ số là 10 và số mũ là 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685" y="4875003"/>
            <a:ext cx="437292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đó, cơ số là 3 và số mũ là 10.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7131" y="6110157"/>
            <a:ext cx="76200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2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138" y="145483"/>
            <a:ext cx="7220404" cy="16813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19" y="2091582"/>
            <a:ext cx="11971565" cy="13767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1360" y="3495341"/>
            <a:ext cx="3929015" cy="591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180" y="4397979"/>
            <a:ext cx="8498680" cy="7116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39631" y="515509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3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3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. 3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4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= 3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3 + 4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= 3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7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10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4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. 10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3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= 10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4 + 3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= 10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7</a:t>
            </a:r>
            <a:endParaRPr lang="vi-VN" sz="24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x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2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. x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5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= x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2 + 5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= x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7</a:t>
            </a:r>
            <a:endParaRPr lang="vi-VN" sz="2400" b="1" i="0" dirty="0">
              <a:solidFill>
                <a:schemeClr val="accent1">
                  <a:lumMod val="50000"/>
                </a:schemeClr>
              </a:solidFill>
              <a:effectLst/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77045" y="686273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3 . 3</a:t>
            </a:r>
            <a:r>
              <a:rPr lang="vi-VN" sz="2000" b="1" baseline="30000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3</a:t>
            </a:r>
            <a:r>
              <a:rPr lang="vi-VN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 </a:t>
            </a:r>
            <a:r>
              <a:rPr lang="vi-VN" sz="20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= 3.3.3.3 = 3</a:t>
            </a:r>
            <a:r>
              <a:rPr lang="vi-VN" sz="2000" b="1" baseline="30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4</a:t>
            </a:r>
            <a:endParaRPr lang="vi-VN" sz="2000" b="1" i="0" dirty="0">
              <a:solidFill>
                <a:schemeClr val="accent1">
                  <a:lumMod val="50000"/>
                </a:schemeClr>
              </a:solidFill>
              <a:effectLst/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863661" y="1111097"/>
                <a:ext cx="3160240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.</m:t>
                    </m:r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.2.2.2.2.2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endParaRPr lang="vi-VN" sz="20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661" y="1111097"/>
                <a:ext cx="3160240" cy="407099"/>
              </a:xfrm>
              <a:prstGeom prst="rect">
                <a:avLst/>
              </a:prstGeom>
              <a:blipFill>
                <a:blip r:embed="rId7"/>
                <a:stretch>
                  <a:fillRect t="-5970" b="-2537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9574936" y="672533"/>
                <a:ext cx="6096000" cy="4070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Hay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. 3</a:t>
                </a:r>
                <a:r>
                  <a:rPr lang="vi-VN" sz="2000" b="1" baseline="30000" dirty="0" smtClean="0">
                    <a:solidFill>
                      <a:srgbClr val="FF0000"/>
                    </a:solidFill>
                    <a:latin typeface="+mj-lt"/>
                  </a:rPr>
                  <a:t>3</a:t>
                </a:r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3</a:t>
                </a:r>
                <a:r>
                  <a:rPr lang="vi-VN" sz="2000" b="1" baseline="30000" dirty="0">
                    <a:solidFill>
                      <a:srgbClr val="FF0000"/>
                    </a:solidFill>
                    <a:latin typeface="+mj-lt"/>
                  </a:rPr>
                  <a:t>4</a:t>
                </a:r>
                <a:endParaRPr lang="vi-VN" sz="2000" b="1" i="0" dirty="0">
                  <a:solidFill>
                    <a:srgbClr val="FF0000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4936" y="672533"/>
                <a:ext cx="6096000" cy="407099"/>
              </a:xfrm>
              <a:prstGeom prst="rect">
                <a:avLst/>
              </a:prstGeom>
              <a:blipFill>
                <a:blip r:embed="rId8"/>
                <a:stretch>
                  <a:fillRect t="-5970" b="-2537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9574936" y="1121531"/>
                <a:ext cx="6096000" cy="4070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Hay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endParaRPr lang="vi-VN" sz="2000" b="1" i="0" dirty="0">
                  <a:solidFill>
                    <a:schemeClr val="accent1">
                      <a:lumMod val="50000"/>
                    </a:schemeClr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4936" y="1121531"/>
                <a:ext cx="6096000" cy="407099"/>
              </a:xfrm>
              <a:prstGeom prst="rect">
                <a:avLst/>
              </a:prstGeom>
              <a:blipFill>
                <a:blip r:embed="rId9"/>
                <a:stretch>
                  <a:fillRect t="-7463" b="-2537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1523999" y="5142573"/>
            <a:ext cx="13784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i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p:sp>
        <p:nvSpPr>
          <p:cNvPr id="23" name="Left Brace 22"/>
          <p:cNvSpPr/>
          <p:nvPr/>
        </p:nvSpPr>
        <p:spPr>
          <a:xfrm rot="16200000" flipH="1">
            <a:off x="8054497" y="350533"/>
            <a:ext cx="140140" cy="605481"/>
          </a:xfrm>
          <a:prstGeom prst="leftBrace">
            <a:avLst>
              <a:gd name="adj1" fmla="val 88736"/>
              <a:gd name="adj2" fmla="val 5000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52548" y="187007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16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 4 thừa số 3</a:t>
            </a:r>
            <a:endParaRPr lang="vi-VN" sz="1600" b="1" i="0" dirty="0">
              <a:solidFill>
                <a:schemeClr val="bg2">
                  <a:lumMod val="10000"/>
                </a:schemeClr>
              </a:solidFill>
              <a:effectLst/>
              <a:latin typeface="+mj-lt"/>
            </a:endParaRPr>
          </a:p>
        </p:txBody>
      </p:sp>
      <p:sp>
        <p:nvSpPr>
          <p:cNvPr id="25" name="Left Brace 24"/>
          <p:cNvSpPr/>
          <p:nvPr/>
        </p:nvSpPr>
        <p:spPr>
          <a:xfrm rot="16200000">
            <a:off x="8429081" y="986397"/>
            <a:ext cx="218878" cy="1087391"/>
          </a:xfrm>
          <a:prstGeom prst="leftBrace">
            <a:avLst>
              <a:gd name="adj1" fmla="val 88736"/>
              <a:gd name="adj2" fmla="val 5000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957756" y="1649967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1600" b="1" dirty="0" smtClean="0">
                <a:solidFill>
                  <a:schemeClr val="bg2">
                    <a:lumMod val="10000"/>
                  </a:schemeClr>
                </a:solidFill>
                <a:latin typeface="+mj-lt"/>
              </a:rPr>
              <a:t> 6 thừa số 2</a:t>
            </a:r>
            <a:endParaRPr lang="vi-VN" sz="1600" b="1" i="0" dirty="0">
              <a:solidFill>
                <a:schemeClr val="bg2">
                  <a:lumMod val="10000"/>
                </a:schemeClr>
              </a:solidFill>
              <a:effectLst/>
              <a:latin typeface="+mj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419311" y="105548"/>
            <a:ext cx="973618" cy="338554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vi-VN" sz="1600" b="1" i="0" smtClean="0">
                <a:solidFill>
                  <a:srgbClr val="FF0000"/>
                </a:solidFill>
                <a:effectLst/>
                <a:latin typeface="+mj-lt"/>
              </a:rPr>
              <a:t>1 + 3 = 4</a:t>
            </a:r>
            <a:endParaRPr lang="vi-VN" sz="1600" b="1" i="0" dirty="0">
              <a:solidFill>
                <a:srgbClr val="FF0000"/>
              </a:solidFill>
              <a:effectLst/>
              <a:latin typeface="+mj-lt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10516621" y="431837"/>
            <a:ext cx="83927" cy="29150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10856692" y="444103"/>
            <a:ext cx="29611" cy="279241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11232293" y="440477"/>
            <a:ext cx="61778" cy="28286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67131" y="5863024"/>
            <a:ext cx="76200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0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2" grpId="0"/>
      <p:bldP spid="23" grpId="0" animBg="1"/>
      <p:bldP spid="24" grpId="0"/>
      <p:bldP spid="25" grpId="0" animBg="1"/>
      <p:bldP spid="26" grpId="0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32" y="0"/>
            <a:ext cx="4505325" cy="409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44" y="409575"/>
            <a:ext cx="1028700" cy="1076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144" y="514350"/>
            <a:ext cx="8029575" cy="609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6531" y="2787222"/>
            <a:ext cx="7924800" cy="1085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365792" y="1588520"/>
                <a:ext cx="5727874" cy="41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=( </m:t>
                    </m:r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.5.5.5.5.5.5 ) : ( 5.5 ) = 5.5.5.5.5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endParaRPr lang="vi-VN" sz="20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92" y="1588520"/>
                <a:ext cx="5727874" cy="411651"/>
              </a:xfrm>
              <a:prstGeom prst="rect">
                <a:avLst/>
              </a:prstGeom>
              <a:blipFill>
                <a:blip r:embed="rId6"/>
                <a:stretch>
                  <a:fillRect t="-5970" b="-2686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365792" y="2110736"/>
                <a:ext cx="5727874" cy="41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=( </m:t>
                    </m:r>
                    <m:r>
                      <a:rPr lang="vi-VN" sz="20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.5.5.5.5.5.5 ) : ( 5.5.5.5.5 ) = 5.5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vi-VN" sz="20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5792" y="2110736"/>
                <a:ext cx="5727874" cy="411651"/>
              </a:xfrm>
              <a:prstGeom prst="rect">
                <a:avLst/>
              </a:prstGeom>
              <a:blipFill>
                <a:blip r:embed="rId7"/>
                <a:stretch>
                  <a:fillRect t="-4412" b="-2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919131" y="1586789"/>
                <a:ext cx="6096000" cy="41165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Hay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endParaRPr lang="vi-VN" sz="2000" b="1" i="0" dirty="0">
                  <a:solidFill>
                    <a:schemeClr val="accent1">
                      <a:lumMod val="50000"/>
                    </a:schemeClr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131" y="1586789"/>
                <a:ext cx="6096000" cy="411651"/>
              </a:xfrm>
              <a:prstGeom prst="rect">
                <a:avLst/>
              </a:prstGeom>
              <a:blipFill>
                <a:blip r:embed="rId8"/>
                <a:stretch>
                  <a:fillRect t="-4412" b="-2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919131" y="2110735"/>
                <a:ext cx="6096000" cy="41165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Hay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vi-VN" sz="2000" b="1" i="0" dirty="0">
                  <a:solidFill>
                    <a:schemeClr val="accent1">
                      <a:lumMod val="50000"/>
                    </a:schemeClr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131" y="2110735"/>
                <a:ext cx="6096000" cy="411651"/>
              </a:xfrm>
              <a:prstGeom prst="rect">
                <a:avLst/>
              </a:prstGeom>
              <a:blipFill>
                <a:blip r:embed="rId9"/>
                <a:stretch>
                  <a:fillRect t="-4412" b="-2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8834815" y="983399"/>
            <a:ext cx="973618" cy="338554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vi-VN" sz="1600" b="1" dirty="0">
                <a:solidFill>
                  <a:srgbClr val="FF0000"/>
                </a:solidFill>
                <a:latin typeface="+mj-lt"/>
              </a:rPr>
              <a:t>7</a:t>
            </a:r>
            <a:r>
              <a:rPr lang="vi-VN" sz="1600" b="1" i="0" dirty="0" smtClean="0">
                <a:solidFill>
                  <a:srgbClr val="FF0000"/>
                </a:solidFill>
                <a:effectLst/>
                <a:latin typeface="+mj-lt"/>
              </a:rPr>
              <a:t> - 2 = 5</a:t>
            </a:r>
            <a:endParaRPr lang="vi-VN" sz="1600" b="1" i="0" dirty="0">
              <a:solidFill>
                <a:srgbClr val="FF0000"/>
              </a:solidFill>
              <a:effectLst/>
              <a:latin typeface="+mj-lt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8932125" y="1309688"/>
            <a:ext cx="83927" cy="29150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9272196" y="1321954"/>
            <a:ext cx="29611" cy="279241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9647797" y="1318328"/>
            <a:ext cx="61778" cy="28286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503020" y="3885048"/>
                <a:ext cx="6096000" cy="4070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endParaRPr lang="vi-VN" sz="2000" b="1" i="0" dirty="0">
                  <a:solidFill>
                    <a:schemeClr val="accent1">
                      <a:lumMod val="50000"/>
                    </a:schemeClr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020" y="3885048"/>
                <a:ext cx="6096000" cy="407099"/>
              </a:xfrm>
              <a:prstGeom prst="rect">
                <a:avLst/>
              </a:prstGeom>
              <a:blipFill>
                <a:blip r:embed="rId10"/>
                <a:stretch>
                  <a:fillRect t="-5970" b="-2537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503020" y="4248472"/>
                <a:ext cx="6096000" cy="41165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vi-VN" sz="20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  <m:sup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vi-VN" sz="20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sz="20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  <m:sup>
                        <m:r>
                          <a:rPr lang="vi-VN" sz="20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vi-VN" sz="2000" b="1" i="0" dirty="0">
                  <a:solidFill>
                    <a:schemeClr val="accent1">
                      <a:lumMod val="50000"/>
                    </a:schemeClr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020" y="4248472"/>
                <a:ext cx="6096000" cy="411651"/>
              </a:xfrm>
              <a:prstGeom prst="rect">
                <a:avLst/>
              </a:prstGeom>
              <a:blipFill>
                <a:blip r:embed="rId11"/>
                <a:stretch>
                  <a:fillRect t="-5970" b="-2686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1394" y="4710067"/>
            <a:ext cx="9429750" cy="15430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38702" y="6283155"/>
            <a:ext cx="4895850" cy="5143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606717" y="1571120"/>
            <a:ext cx="8261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i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76851" y="3836386"/>
            <a:ext cx="8261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i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7131" y="5863024"/>
            <a:ext cx="762000" cy="116205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 flipV="1">
            <a:off x="4133088" y="2332999"/>
            <a:ext cx="850392" cy="219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4727448" y="1802115"/>
            <a:ext cx="325116" cy="307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81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 animBg="1"/>
      <p:bldP spid="20" grpId="0"/>
      <p:bldP spid="21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07" y="3401551"/>
            <a:ext cx="5838825" cy="18383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71854" y="1831891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pt-BR" sz="2400" b="1" baseline="300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11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11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– 3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11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pt-BR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11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11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11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– 7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11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1</a:t>
            </a:r>
          </a:p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7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. 7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7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+ 4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7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  7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. 7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7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7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+ 4 – 3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7</a:t>
            </a:r>
            <a:r>
              <a:rPr lang="pt-BR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pt-BR" sz="2400" b="1" i="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89960" y="5095378"/>
            <a:ext cx="7159793" cy="1625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vi-VN" sz="2400" b="1" baseline="30000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9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9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→ ĐÚNG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(vì 9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9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9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– 2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9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7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7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 7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7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7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– 2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7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2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6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→  SAI (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 2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2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2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 – 8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2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8)</a:t>
            </a:r>
          </a:p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5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5 </a:t>
            </a:r>
            <a:r>
              <a:rPr lang="vi-VN" sz="2400" b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→  SAI (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 5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5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5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– 6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=5</a:t>
            </a:r>
            <a:r>
              <a:rPr lang="vi-VN" sz="2400" b="1" baseline="30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1)</a:t>
            </a:r>
            <a:endParaRPr lang="vi-VN" sz="2400" b="1" i="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85558" y="1831697"/>
            <a:ext cx="10773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i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1928" y="5095370"/>
            <a:ext cx="13275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i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5743139"/>
            <a:ext cx="762000" cy="1162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28" y="79283"/>
            <a:ext cx="907732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9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365125"/>
            <a:ext cx="10515600" cy="1325563"/>
          </a:xfrm>
        </p:spPr>
        <p:txBody>
          <a:bodyPr/>
          <a:lstStyle/>
          <a:p>
            <a:endParaRPr lang="vi-VN"/>
          </a:p>
        </p:txBody>
      </p:sp>
      <p:pic>
        <p:nvPicPr>
          <p:cNvPr id="3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"/>
            <a:ext cx="12180824" cy="6851714"/>
          </a:xfrm>
        </p:spPr>
      </p:pic>
      <p:sp>
        <p:nvSpPr>
          <p:cNvPr id="4" name="TextBox 3"/>
          <p:cNvSpPr txBox="1"/>
          <p:nvPr/>
        </p:nvSpPr>
        <p:spPr>
          <a:xfrm>
            <a:off x="5300169" y="1535090"/>
            <a:ext cx="2236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TOÁN 6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98696" y="1117453"/>
            <a:ext cx="45403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000" b="1" dirty="0" smtClean="0">
                <a:solidFill>
                  <a:srgbClr val="FF0000"/>
                </a:solidFill>
                <a:latin typeface="+mj-lt"/>
              </a:rPr>
              <a:t>CHÂN TRỜI SÁNG TẠO </a:t>
            </a:r>
            <a:endParaRPr lang="vi-VN" sz="3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56809" y="1919796"/>
            <a:ext cx="5112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CHƯƠNG 1: SỐ TỰ NHIÊN </a:t>
            </a:r>
            <a:endParaRPr lang="vi-VN" sz="28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2299" y="2933066"/>
            <a:ext cx="961622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54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GIẢI BÀI TẬP</a:t>
            </a:r>
          </a:p>
          <a:p>
            <a:pPr algn="ctr"/>
            <a:r>
              <a:rPr lang="vi-VN" sz="48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BÀI </a:t>
            </a:r>
            <a:r>
              <a:rPr lang="vi-VN" sz="48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4 : LŨY THỪA </a:t>
            </a:r>
          </a:p>
          <a:p>
            <a:pPr algn="ctr"/>
            <a:r>
              <a:rPr lang="vi-VN" sz="4800" b="1" dirty="0" smtClean="0">
                <a:ln w="22225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VỚI SỐ MŨ TỰ NHIÊN</a:t>
            </a:r>
            <a:endParaRPr lang="vi-VN" sz="4800" b="1" dirty="0">
              <a:ln w="22225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955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42" y="358221"/>
            <a:ext cx="9791957" cy="5658988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3583455" y="3311611"/>
            <a:ext cx="2187150" cy="156931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744096" y="4053016"/>
            <a:ext cx="2026509" cy="14828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744096" y="4053016"/>
            <a:ext cx="2026509" cy="96382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3744096" y="3311611"/>
            <a:ext cx="2026509" cy="236014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08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33350" y="5000285"/>
            <a:ext cx="1222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i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33096" y="661747"/>
                <a:ext cx="1601595" cy="858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vi-VN" sz="2400" b="1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</m:oMath>
                </a14:m>
                <a:endParaRPr lang="vi-VN" sz="24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096" y="661747"/>
                <a:ext cx="1601595" cy="858568"/>
              </a:xfrm>
              <a:prstGeom prst="rect">
                <a:avLst/>
              </a:prstGeom>
              <a:blipFill>
                <a:blip r:embed="rId2"/>
                <a:stretch>
                  <a:fillRect l="-6107" b="-1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964464" y="1027482"/>
                <a:ext cx="1809577" cy="475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vi-VN" sz="24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: </m:t>
                    </m:r>
                    <m:r>
                      <a:rPr lang="vi-VN" sz="24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vi-VN" sz="24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vi-VN" sz="24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464" y="1027482"/>
                <a:ext cx="1809577" cy="475451"/>
              </a:xfrm>
              <a:prstGeom prst="rect">
                <a:avLst/>
              </a:prstGeom>
              <a:blipFill>
                <a:blip r:embed="rId3"/>
                <a:stretch>
                  <a:fillRect l="-5051" t="-6410" b="-2948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986476" y="1106733"/>
                <a:ext cx="2154194" cy="2369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  <m:r>
                      <a:rPr lang="vi-VN" sz="24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vi-VN" sz="24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  <m:r>
                      <a:rPr lang="vi-VN" sz="24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).</a:t>
                </a:r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lang="vi-VN" sz="2400" b="1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vi-VN" sz="24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lang="vi-VN" sz="2400" b="1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vi-VN" sz="2400" b="1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lang="vi-VN" sz="2400" b="1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lang="vi-VN" sz="2400" b="1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endParaRPr lang="vi-VN" sz="24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476" y="1106733"/>
                <a:ext cx="2154194" cy="2369238"/>
              </a:xfrm>
              <a:prstGeom prst="rect">
                <a:avLst/>
              </a:prstGeom>
              <a:blipFill>
                <a:blip r:embed="rId4"/>
                <a:stretch>
                  <a:fillRect l="-4249" b="-515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308383" y="1319849"/>
                <a:ext cx="291560" cy="470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vi-VN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p>
                      </m:sSup>
                    </m:oMath>
                  </m:oMathPara>
                </a14:m>
                <a:endParaRPr lang="vi-VN" sz="24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383" y="1319849"/>
                <a:ext cx="291560" cy="470000"/>
              </a:xfrm>
              <a:prstGeom prst="rect">
                <a:avLst/>
              </a:prstGeom>
              <a:blipFill>
                <a:blip r:embed="rId5"/>
                <a:stretch>
                  <a:fillRect r="-22553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840652" y="1373707"/>
                <a:ext cx="908069" cy="4754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4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  <m:sup>
                          <m:r>
                            <a:rPr lang="vi-VN" sz="24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vi-VN" sz="24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652" y="1373707"/>
                <a:ext cx="908069" cy="4754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530060" y="1135132"/>
                <a:ext cx="2154194" cy="1225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p>
                    </m:sSup>
                    <m:r>
                      <a:rPr lang="vi-VN" sz="24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a:rPr lang="vi-VN" sz="2400" b="1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vi-VN" sz="2400" b="1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lang="vi-VN" sz="2400" b="1" dirty="0" smtClean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  <a:p>
                <a:r>
                  <a:rPr 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endParaRPr lang="vi-VN" sz="24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060" y="1135132"/>
                <a:ext cx="2154194" cy="1225335"/>
              </a:xfrm>
              <a:prstGeom prst="rect">
                <a:avLst/>
              </a:prstGeom>
              <a:blipFill>
                <a:blip r:embed="rId7"/>
                <a:stretch>
                  <a:fillRect l="-4237" b="-1044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0"/>
              <p:cNvSpPr>
                <a:spLocks noChangeArrowheads="1"/>
              </p:cNvSpPr>
              <p:nvPr/>
            </p:nvSpPr>
            <p:spPr bwMode="auto">
              <a:xfrm>
                <a:off x="2653265" y="5089831"/>
                <a:ext cx="8241552" cy="83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vi-VN" altLang="vi-VN" sz="2400" b="1" i="0" u="none" strike="noStrike" cap="none" normalizeH="0" baseline="0" dirty="0" smtClean="0">
                    <a:ln>
                      <a:noFill/>
                    </a:ln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+mj-lt"/>
                  </a:rPr>
                  <a:t> 54 297 = 5 . 10000 + 4 . 1000 + 2 . 100 + 9 . 10 + 7</a:t>
                </a:r>
              </a:p>
              <a:p>
                <a:pPr lvl="0"/>
                <a:r>
                  <a:rPr kumimoji="0" lang="vi-VN" altLang="vi-VN" sz="2400" b="1" i="0" u="none" strike="noStrike" cap="none" normalizeH="0" baseline="0" dirty="0" smtClean="0">
                    <a:ln>
                      <a:noFill/>
                    </a:ln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+mj-lt"/>
                  </a:rPr>
                  <a:t>             = 5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vi-VN" altLang="vi-V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kumimoji="0" lang="vi-VN" altLang="vi-VN" sz="2400" b="1" i="0" u="none" strike="noStrike" cap="none" normalizeH="0" baseline="0" dirty="0" smtClean="0">
                    <a:ln>
                      <a:noFill/>
                    </a:ln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+mj-lt"/>
                  </a:rPr>
                  <a:t> + 4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kumimoji="0" lang="vi-VN" altLang="vi-VN" sz="2400" b="1" i="0" u="none" strike="noStrike" cap="none" normalizeH="0" baseline="0" dirty="0" smtClean="0">
                    <a:ln>
                      <a:noFill/>
                    </a:ln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+mj-lt"/>
                  </a:rPr>
                  <a:t> + 2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0" lang="vi-VN" altLang="vi-VN" sz="2400" b="1" i="0" u="none" strike="noStrike" cap="none" normalizeH="0" baseline="0" dirty="0" smtClean="0">
                    <a:ln>
                      <a:noFill/>
                    </a:ln>
                    <a:solidFill>
                      <a:schemeClr val="accent1">
                        <a:lumMod val="50000"/>
                      </a:schemeClr>
                    </a:solidFill>
                    <a:effectLst/>
                    <a:latin typeface="+mj-lt"/>
                  </a:rPr>
                  <a:t> + 9 . 10 + 7</a:t>
                </a:r>
              </a:p>
            </p:txBody>
          </p:sp>
        </mc:Choice>
        <mc:Fallback xmlns="">
          <p:sp>
            <p:nvSpPr>
              <p:cNvPr id="19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3265" y="5089831"/>
                <a:ext cx="8241552" cy="839332"/>
              </a:xfrm>
              <a:prstGeom prst="rect">
                <a:avLst/>
              </a:prstGeom>
              <a:blipFill>
                <a:blip r:embed="rId8"/>
                <a:stretch>
                  <a:fillRect l="-222" t="-5072" b="-1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990391" y="1063051"/>
            <a:ext cx="9785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b="1" i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0859" y="181626"/>
            <a:ext cx="7686675" cy="8858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8960" y="3403709"/>
            <a:ext cx="9534525" cy="1647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867432" y="5929163"/>
                <a:ext cx="6096000" cy="83933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vi-VN" alt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2 023 = 2 . 1000 + 0. 100 + 2 . 10 + 3</a:t>
                </a:r>
              </a:p>
              <a:p>
                <a:pPr lvl="0"/>
                <a:r>
                  <a:rPr lang="vi-VN" alt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          </a:t>
                </a:r>
                <a:r>
                  <a:rPr lang="vi-VN" altLang="vi-VN" sz="24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</a:t>
                </a:r>
                <a:r>
                  <a:rPr lang="vi-VN" alt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2 .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vi-VN" alt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 + 0.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altLang="vi-VN" sz="24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vi-VN" altLang="vi-VN" sz="24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+ 2 . 10+ 3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432" y="5929163"/>
                <a:ext cx="6096000" cy="839332"/>
              </a:xfrm>
              <a:prstGeom prst="rect">
                <a:avLst/>
              </a:prstGeom>
              <a:blipFill>
                <a:blip r:embed="rId11"/>
                <a:stretch>
                  <a:fillRect l="-1500" t="-5839" b="-1678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265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9" grpId="0"/>
      <p:bldP spid="26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38" y="1126480"/>
            <a:ext cx="11341213" cy="10997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88514" y="3062710"/>
            <a:ext cx="6096000" cy="112069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Viết dân số của Việt Nam dưới dạng tích của một số với một lũy thừa của 10 như sau:</a:t>
            </a:r>
            <a:endParaRPr lang="vi-VN" sz="22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            98 </a:t>
            </a:r>
            <a:r>
              <a:rPr lang="vi-VN" sz="22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000 000 = 98 . </a:t>
            </a:r>
            <a:r>
              <a:rPr lang="vi-VN" sz="2200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1 000 000</a:t>
            </a:r>
            <a:endParaRPr lang="vi-VN" sz="22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0215813" y="2377878"/>
                <a:ext cx="993605" cy="430887"/>
              </a:xfrm>
              <a:prstGeom prst="rect">
                <a:avLst/>
              </a:prstGeom>
              <a:ln w="1905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lang="vi-VN" sz="22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5813" y="2377878"/>
                <a:ext cx="99360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919892" y="2973217"/>
                <a:ext cx="1262012" cy="438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2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vi-VN" sz="22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9892" y="2973217"/>
                <a:ext cx="1262012" cy="4385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929127" y="3370257"/>
                <a:ext cx="1430328" cy="438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2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vi-VN" sz="22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9127" y="3370257"/>
                <a:ext cx="1430328" cy="4385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9727804" y="3739589"/>
                <a:ext cx="1948870" cy="4385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2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vi-VN" sz="22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804" y="3739589"/>
                <a:ext cx="1948870" cy="4385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805097" y="4080824"/>
                <a:ext cx="1948870" cy="4385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2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vi-VN" sz="22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𝟏𝟎𝟎𝟎</m:t>
                      </m:r>
                    </m:oMath>
                  </m:oMathPara>
                </a14:m>
                <a:endParaRPr lang="vi-VN" sz="22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5097" y="4080824"/>
                <a:ext cx="1948870" cy="4385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9919331" y="4431684"/>
                <a:ext cx="1948870" cy="4376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2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vi-VN" sz="22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9331" y="4431684"/>
                <a:ext cx="1948870" cy="4376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866351" y="4769841"/>
                <a:ext cx="2208448" cy="4435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2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vi-VN" sz="22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6351" y="4769841"/>
                <a:ext cx="2208448" cy="4435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1962345" y="3050431"/>
            <a:ext cx="82616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200" b="1" i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973783" y="3722872"/>
                <a:ext cx="1371401" cy="438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= 98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vi-VN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783" y="3722872"/>
                <a:ext cx="1371401" cy="438582"/>
              </a:xfrm>
              <a:prstGeom prst="rect">
                <a:avLst/>
              </a:prstGeom>
              <a:blipFill>
                <a:blip r:embed="rId11"/>
                <a:stretch>
                  <a:fillRect l="-5778" t="-9722" b="-2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9863482" y="5100402"/>
                <a:ext cx="2420884" cy="4385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2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vi-VN" sz="2200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  <m:r>
                        <a:rPr lang="vi-VN" sz="22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sz="2200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vi-VN" sz="22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482" y="5100402"/>
                <a:ext cx="2420884" cy="4385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419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/>
      <p:bldP spid="12" grpId="0"/>
      <p:bldP spid="13" grpId="0"/>
      <p:bldP spid="14" grpId="0"/>
      <p:bldP spid="15" grpId="0"/>
      <p:bldP spid="16" grpId="0"/>
      <p:bldP spid="2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78" y="163483"/>
            <a:ext cx="11383752" cy="28286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245080" y="3066315"/>
                <a:ext cx="6973958" cy="784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vi-VN" sz="22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a) Khối lượng của Trái Đất = 6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sup>
                    </m:sSup>
                  </m:oMath>
                </a14:m>
                <a:r>
                  <a:rPr lang="vi-VN" sz="22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tấn</a:t>
                </a:r>
              </a:p>
              <a:p>
                <a:r>
                  <a:rPr lang="vi-VN" sz="22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 </a:t>
                </a:r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Khối lượng của Mặt Trăng = 75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sup>
                    </m:sSup>
                  </m:oMath>
                </a14:m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  <a:r>
                  <a:rPr lang="vi-VN" sz="22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tấn</a:t>
                </a:r>
                <a:endParaRPr lang="vi-VN" sz="22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080" y="3066315"/>
                <a:ext cx="6973958" cy="784830"/>
              </a:xfrm>
              <a:prstGeom prst="rect">
                <a:avLst/>
              </a:prstGeom>
              <a:blipFill>
                <a:blip r:embed="rId3"/>
                <a:stretch>
                  <a:fillRect l="-1136" t="-3876" b="-1550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219464" y="5648930"/>
                <a:ext cx="9803655" cy="4385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Vậy: Khối lượng Trái Đất gấp (6 : 75)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vi-VN" sz="2200" b="1" dirty="0" smtClean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lần </a:t>
                </a:r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khối lượng Mặt Trăng.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64" y="5648930"/>
                <a:ext cx="9803655" cy="438582"/>
              </a:xfrm>
              <a:prstGeom prst="rect">
                <a:avLst/>
              </a:prstGeom>
              <a:blipFill>
                <a:blip r:embed="rId4"/>
                <a:stretch>
                  <a:fillRect l="-808" t="-6944" b="-277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07192" y="3037335"/>
            <a:ext cx="82616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200" b="1" i="1" dirty="0">
                <a:solidFill>
                  <a:srgbClr val="FF0000"/>
                </a:solidFill>
                <a:latin typeface="+mj-lt"/>
              </a:rPr>
              <a:t>GIẢI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245079" y="3878441"/>
                <a:ext cx="7454765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b) Khối lượng Trái Đất gấp khối lượng Mặt Trăng:</a:t>
                </a:r>
              </a:p>
              <a:p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   (6 .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sup>
                    </m:sSup>
                  </m:oMath>
                </a14:m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) : (75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sup>
                    </m:sSup>
                  </m:oMath>
                </a14:m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) </a:t>
                </a:r>
              </a:p>
              <a:p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= (6 : 75) .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sup>
                    </m:sSup>
                  </m:oMath>
                </a14:m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sup>
                    </m:sSup>
                  </m:oMath>
                </a14:m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)</a:t>
                </a:r>
              </a:p>
              <a:p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= (6 : 75)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sup>
                    </m:sSup>
                  </m:oMath>
                </a14:m>
                <a:endParaRPr lang="vi-VN" sz="2200" b="1" dirty="0">
                  <a:solidFill>
                    <a:schemeClr val="accent1">
                      <a:lumMod val="50000"/>
                    </a:schemeClr>
                  </a:solidFill>
                  <a:latin typeface="+mj-lt"/>
                </a:endParaRPr>
              </a:p>
              <a:p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= (6 : 75) 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vi-VN" sz="2200" b="1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vi-VN" sz="2200" b="1" dirty="0">
                    <a:solidFill>
                      <a:schemeClr val="accent1">
                        <a:lumMod val="50000"/>
                      </a:schemeClr>
                    </a:solidFill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079" y="3878441"/>
                <a:ext cx="7454765" cy="1815882"/>
              </a:xfrm>
              <a:prstGeom prst="rect">
                <a:avLst/>
              </a:prstGeom>
              <a:blipFill>
                <a:blip r:embed="rId5"/>
                <a:stretch>
                  <a:fillRect l="-1063" t="-2349" b="-604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03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</TotalTime>
  <Words>250</Words>
  <Application>Microsoft Office PowerPoint</Application>
  <PresentationFormat>Widescreen</PresentationFormat>
  <Paragraphs>100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BEAN</dc:creator>
  <cp:lastModifiedBy>BEAN</cp:lastModifiedBy>
  <cp:revision>100</cp:revision>
  <dcterms:created xsi:type="dcterms:W3CDTF">2021-06-12T02:17:51Z</dcterms:created>
  <dcterms:modified xsi:type="dcterms:W3CDTF">2021-07-02T04:01:06Z</dcterms:modified>
</cp:coreProperties>
</file>